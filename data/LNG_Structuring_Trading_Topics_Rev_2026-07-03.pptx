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413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40"/>
        </a:solidFill>
        <a:effectLst/>
      </p:bgPr>
    </p:bg>
    <p:spTree>
      <p:nvGrpSpPr>
        <p:cNvPr id="1" name=""/>
        <p:cNvGrpSpPr/>
        <p:nvPr/>
      </p:nvGrpSpPr>
      <p:grpSpPr>
        <a:xfrm>
          <a:off x="0" y="0"/>
          <a:ext cx="0" cy="0"/>
          <a:chOff x="0" y="0"/>
          <a:chExt cx="0" cy="0"/>
        </a:xfrm>
      </p:grpSpPr>
      <p:sp>
        <p:nvSpPr>
          <p:cNvPr id="2" name="Shape 0"/>
          <p:cNvSpPr/>
          <p:nvPr/>
        </p:nvSpPr>
        <p:spPr>
          <a:xfrm>
            <a:off x="-2011680" y="5120640"/>
            <a:ext cx="8229600" cy="8229600"/>
          </a:xfrm>
          <a:prstGeom prst="ellipse">
            <a:avLst/>
          </a:prstGeom>
          <a:solidFill>
            <a:srgbClr val="065A82">
              <a:alpha val="22000"/>
            </a:srgbClr>
          </a:solidFill>
          <a:ln/>
        </p:spPr>
      </p:sp>
      <p:sp>
        <p:nvSpPr>
          <p:cNvPr id="3" name="Shape 1"/>
          <p:cNvSpPr/>
          <p:nvPr/>
        </p:nvSpPr>
        <p:spPr>
          <a:xfrm>
            <a:off x="7772400" y="-2743200"/>
            <a:ext cx="7315200" cy="7315200"/>
          </a:xfrm>
          <a:prstGeom prst="ellipse">
            <a:avLst/>
          </a:prstGeom>
          <a:solidFill>
            <a:srgbClr val="1C7293">
              <a:alpha val="20000"/>
            </a:srgbClr>
          </a:solidFill>
          <a:ln/>
        </p:spPr>
      </p:sp>
      <p:sp>
        <p:nvSpPr>
          <p:cNvPr id="4" name="Text 2"/>
          <p:cNvSpPr/>
          <p:nvPr/>
        </p:nvSpPr>
        <p:spPr>
          <a:xfrm>
            <a:off x="914400" y="1783080"/>
            <a:ext cx="10332720" cy="457200"/>
          </a:xfrm>
          <a:prstGeom prst="rect">
            <a:avLst/>
          </a:prstGeom>
          <a:noFill/>
          <a:ln/>
        </p:spPr>
        <p:txBody>
          <a:bodyPr wrap="square" lIns="0" tIns="0" rIns="0" bIns="0" rtlCol="0" anchor="ctr"/>
          <a:lstStyle/>
          <a:p>
            <a:pPr marL="0" indent="0">
              <a:buNone/>
            </a:pPr>
            <a:r>
              <a:rPr lang="en-US" sz="1400" b="1" kern="0" spc="300" dirty="0">
                <a:solidFill>
                  <a:srgbClr val="1C7293"/>
                </a:solidFill>
                <a:latin typeface="Calibri" pitchFamily="34" charset="0"/>
                <a:ea typeface="Calibri" pitchFamily="34" charset="-122"/>
                <a:cs typeface="Calibri" pitchFamily="34" charset="-120"/>
              </a:rPr>
              <a:t>LNG STRUCTURING AND TRADING</a:t>
            </a:r>
            <a:endParaRPr lang="en-US" sz="1400" dirty="0"/>
          </a:p>
        </p:txBody>
      </p:sp>
      <p:sp>
        <p:nvSpPr>
          <p:cNvPr id="5" name="Text 3"/>
          <p:cNvSpPr/>
          <p:nvPr/>
        </p:nvSpPr>
        <p:spPr>
          <a:xfrm>
            <a:off x="914400" y="2240280"/>
            <a:ext cx="1033272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Key LNG-Related Topics</a:t>
            </a:r>
            <a:endParaRPr lang="en-US" sz="4200" dirty="0"/>
          </a:p>
        </p:txBody>
      </p:sp>
      <p:sp>
        <p:nvSpPr>
          <p:cNvPr id="6" name="Text 4"/>
          <p:cNvSpPr/>
          <p:nvPr/>
        </p:nvSpPr>
        <p:spPr>
          <a:xfrm>
            <a:off x="914400" y="3246120"/>
            <a:ext cx="9326880" cy="914400"/>
          </a:xfrm>
          <a:prstGeom prst="rect">
            <a:avLst/>
          </a:prstGeom>
          <a:noFill/>
          <a:ln/>
        </p:spPr>
        <p:txBody>
          <a:bodyPr wrap="square" lIns="0" tIns="0" rIns="0" bIns="0" rtlCol="0" anchor="ctr"/>
          <a:lstStyle/>
          <a:p>
            <a:pPr marL="0" indent="0">
              <a:lnSpc>
                <a:spcPct val="120000"/>
              </a:lnSpc>
              <a:buNone/>
            </a:pPr>
            <a:r>
              <a:rPr lang="en-US" sz="1500" i="1" dirty="0">
                <a:solidFill>
                  <a:srgbClr val="C7D6DE"/>
                </a:solidFill>
                <a:latin typeface="Calibri" pitchFamily="34" charset="0"/>
                <a:ea typeface="Calibri" pitchFamily="34" charset="-122"/>
                <a:cs typeface="Calibri" pitchFamily="34" charset="-120"/>
              </a:rPr>
              <a:t>Core topics: curve construction, benchmarks, regas, netbacks, optionality, shipping, transaction risk, stress testing and ETRM / risk reporting interface.</a:t>
            </a:r>
            <a:endParaRPr lang="en-US" sz="1500" dirty="0"/>
          </a:p>
        </p:txBody>
      </p:sp>
      <p:sp>
        <p:nvSpPr>
          <p:cNvPr id="7" name="Text 5"/>
          <p:cNvSpPr/>
          <p:nvPr/>
        </p:nvSpPr>
        <p:spPr>
          <a:xfrm>
            <a:off x="914400" y="5989320"/>
            <a:ext cx="9692640" cy="548640"/>
          </a:xfrm>
          <a:prstGeom prst="rect">
            <a:avLst/>
          </a:prstGeom>
          <a:noFill/>
          <a:ln/>
        </p:spPr>
        <p:txBody>
          <a:bodyPr wrap="square" lIns="0" tIns="0" rIns="0" bIns="0" rtlCol="0" anchor="ctr"/>
          <a:lstStyle/>
          <a:p>
            <a:pPr marL="0" indent="0">
              <a:lnSpc>
                <a:spcPct val="115000"/>
              </a:lnSpc>
              <a:buNone/>
            </a:pPr>
            <a:r>
              <a:rPr lang="en-US" sz="950" i="1" dirty="0">
                <a:solidFill>
                  <a:srgbClr val="7E93A0"/>
                </a:solidFill>
                <a:latin typeface="Calibri" pitchFamily="34" charset="0"/>
                <a:ea typeface="Calibri" pitchFamily="34" charset="-122"/>
                <a:cs typeface="Calibri" pitchFamily="34" charset="-120"/>
              </a:rPr>
              <a:t>Dmitry Goryunov</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CURVE CONSTRUCTION</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DES NWE forward curve construction and marking</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512064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CONSTRUCTION</a:t>
            </a:r>
            <a:endParaRPr lang="en-US" sz="1200" dirty="0"/>
          </a:p>
        </p:txBody>
      </p:sp>
      <p:sp>
        <p:nvSpPr>
          <p:cNvPr id="8" name="Text 6"/>
          <p:cNvSpPr/>
          <p:nvPr/>
        </p:nvSpPr>
        <p:spPr>
          <a:xfrm>
            <a:off x="685800" y="1920240"/>
            <a:ext cx="5257800" cy="4297680"/>
          </a:xfrm>
          <a:prstGeom prst="rect">
            <a:avLst/>
          </a:prstGeom>
          <a:noFill/>
          <a:ln/>
        </p:spPr>
        <p:txBody>
          <a:bodyPr wrap="square" lIns="0" tIns="0" rIns="0" bIns="0" rtlCol="0" anchor="t"/>
          <a:lstStyle/>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Backbone — </a:t>
            </a:r>
            <a:r>
              <a:rPr lang="en-US" sz="1150" dirty="0">
                <a:solidFill>
                  <a:srgbClr val="1C2B3A"/>
                </a:solidFill>
                <a:latin typeface="Calibri" pitchFamily="34" charset="0"/>
                <a:ea typeface="Calibri" pitchFamily="34" charset="-122"/>
                <a:cs typeface="Calibri" pitchFamily="34" charset="-120"/>
              </a:rPr>
              <a:t>ICE TTF futures settlements; DES NWE marked as a basis to TTF (regas slot value, entry capacity, port costs), normally a discount that widens when regas is loose</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Front 12–24 months — </a:t>
            </a:r>
            <a:r>
              <a:rPr lang="en-US" sz="1150" dirty="0">
                <a:solidFill>
                  <a:srgbClr val="1C2B3A"/>
                </a:solidFill>
                <a:latin typeface="Calibri" pitchFamily="34" charset="0"/>
                <a:ea typeface="Calibri" pitchFamily="34" charset="-122"/>
                <a:cs typeface="Calibri" pitchFamily="34" charset="-120"/>
              </a:rPr>
              <a:t>observable DES markers where available (Spark NWE DES, Platts DES NWE, Argus), broker quotes and executed cargo trades</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Beyond the liquid window — </a:t>
            </a:r>
            <a:r>
              <a:rPr lang="en-US" sz="1150" dirty="0">
                <a:solidFill>
                  <a:srgbClr val="1C2B3A"/>
                </a:solidFill>
                <a:latin typeface="Calibri" pitchFamily="34" charset="0"/>
                <a:ea typeface="Calibri" pitchFamily="34" charset="-122"/>
                <a:cs typeface="Calibri" pitchFamily="34" charset="-120"/>
              </a:rPr>
              <a:t>seasonal shape from TTF plus a modelled basis (regas utilisation, storage cost, supply wave timing)</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Sanity bounds — </a:t>
            </a:r>
            <a:r>
              <a:rPr lang="en-US" sz="1150" dirty="0">
                <a:solidFill>
                  <a:srgbClr val="1C2B3A"/>
                </a:solidFill>
                <a:latin typeface="Calibri" pitchFamily="34" charset="0"/>
                <a:ea typeface="Calibri" pitchFamily="34" charset="-122"/>
                <a:cs typeface="Calibri" pitchFamily="34" charset="-120"/>
              </a:rPr>
              <a:t>every tenor must sit inside the diversion arbitrage corridor</a:t>
            </a:r>
            <a:endParaRPr lang="en-US" sz="11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DES NWE is TTF-led, location-adjusted and arbitrage-constrained — not TTF plus a fixed spread</a:t>
            </a:r>
            <a:endParaRPr lang="en-US" sz="1150" dirty="0"/>
          </a:p>
        </p:txBody>
      </p:sp>
      <p:sp>
        <p:nvSpPr>
          <p:cNvPr id="9" name="Text 7"/>
          <p:cNvSpPr/>
          <p:nvPr/>
        </p:nvSpPr>
        <p:spPr>
          <a:xfrm>
            <a:off x="626364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MARKING AND GOVERNANCE</a:t>
            </a:r>
            <a:endParaRPr lang="en-US" sz="1200" dirty="0"/>
          </a:p>
        </p:txBody>
      </p:sp>
      <p:sp>
        <p:nvSpPr>
          <p:cNvPr id="10" name="Text 8"/>
          <p:cNvSpPr/>
          <p:nvPr/>
        </p:nvSpPr>
        <p:spPr>
          <a:xfrm>
            <a:off x="6263640" y="1920240"/>
            <a:ext cx="5212080" cy="4297680"/>
          </a:xfrm>
          <a:prstGeom prst="rect">
            <a:avLst/>
          </a:prstGeom>
          <a:noFill/>
          <a:ln/>
        </p:spPr>
        <p:txBody>
          <a:bodyPr wrap="square" lIns="0" tIns="0" rIns="0" bIns="0" rtlCol="0" anchor="t"/>
          <a:lstStyle/>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Observability hierarchy — </a:t>
            </a:r>
            <a:r>
              <a:rPr lang="en-US" sz="1150" dirty="0">
                <a:solidFill>
                  <a:srgbClr val="1C2B3A"/>
                </a:solidFill>
                <a:latin typeface="Calibri" pitchFamily="34" charset="0"/>
                <a:ea typeface="Calibri" pitchFamily="34" charset="-122"/>
                <a:cs typeface="Calibri" pitchFamily="34" charset="-120"/>
              </a:rPr>
              <a:t>exchange settles, then broker quotes and trades, then assessed markers, then model marks with reserves</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Independent verification — </a:t>
            </a:r>
            <a:r>
              <a:rPr lang="en-US" sz="1150" dirty="0">
                <a:solidFill>
                  <a:srgbClr val="1C2B3A"/>
                </a:solidFill>
                <a:latin typeface="Calibri" pitchFamily="34" charset="0"/>
                <a:ea typeface="Calibri" pitchFamily="34" charset="-122"/>
                <a:cs typeface="Calibri" pitchFamily="34" charset="-120"/>
              </a:rPr>
              <a:t>monthly; bid–offer and liquidity reserves grow with tenor</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Back-test — </a:t>
            </a:r>
            <a:r>
              <a:rPr lang="en-US" sz="1150" dirty="0">
                <a:solidFill>
                  <a:srgbClr val="1C2B3A"/>
                </a:solidFill>
                <a:latin typeface="Calibri" pitchFamily="34" charset="0"/>
                <a:ea typeface="Calibri" pitchFamily="34" charset="-122"/>
                <a:cs typeface="Calibri" pitchFamily="34" charset="-120"/>
              </a:rPr>
              <a:t>marks against the portfolio's own executed DES cargoes</a:t>
            </a:r>
            <a:endParaRPr lang="en-US" sz="1150" dirty="0"/>
          </a:p>
          <a:p>
            <a:pPr marL="177800" indent="-177800">
              <a:lnSpc>
                <a:spcPct val="115000"/>
              </a:lnSpc>
              <a:buSzPct val="100000"/>
              <a:buChar char="●"/>
            </a:pPr>
            <a:r>
              <a:rPr lang="en-US" sz="1150" b="1" dirty="0">
                <a:solidFill>
                  <a:srgbClr val="065A82"/>
                </a:solidFill>
                <a:latin typeface="Calibri" pitchFamily="34" charset="0"/>
                <a:ea typeface="Calibri" pitchFamily="34" charset="-122"/>
                <a:cs typeface="Calibri" pitchFamily="34" charset="-120"/>
              </a:rPr>
              <a:t>Governance — </a:t>
            </a:r>
            <a:r>
              <a:rPr lang="en-US" sz="1150" dirty="0">
                <a:solidFill>
                  <a:srgbClr val="1C2B3A"/>
                </a:solidFill>
                <a:latin typeface="Calibri" pitchFamily="34" charset="0"/>
                <a:ea typeface="Calibri" pitchFamily="34" charset="-122"/>
                <a:cs typeface="Calibri" pitchFamily="34" charset="-120"/>
              </a:rPr>
              <a:t>document basis methodology; recalibrate after regime shifts (2022, 2026)</a:t>
            </a:r>
            <a:endParaRPr lang="en-US" sz="1150" dirty="0"/>
          </a:p>
        </p:txBody>
      </p:sp>
      <p:sp>
        <p:nvSpPr>
          <p:cNvPr id="11" name="Text 9"/>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 of 12   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CURVE CONSTRUCTION</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Marking caveats, and the ceiling / floor bounds</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691640"/>
            <a:ext cx="10835640" cy="1197864"/>
          </a:xfrm>
          <a:prstGeom prst="roundRect">
            <a:avLst>
              <a:gd name="adj" fmla="val 2791"/>
            </a:avLst>
          </a:prstGeom>
          <a:solidFill>
            <a:srgbClr val="FCF3E3"/>
          </a:solidFill>
          <a:ln/>
          <a:effectLst>
            <a:outerShdw blurRad="101600" dist="38100" dir="2700000" algn="bl" rotWithShape="0">
              <a:srgbClr val="000000">
                <a:alpha val="12000"/>
              </a:srgbClr>
            </a:outerShdw>
          </a:effectLst>
        </p:spPr>
      </p:sp>
      <p:sp>
        <p:nvSpPr>
          <p:cNvPr id="8" name="Text 6"/>
          <p:cNvSpPr/>
          <p:nvPr/>
        </p:nvSpPr>
        <p:spPr>
          <a:xfrm>
            <a:off x="914400" y="1856232"/>
            <a:ext cx="10378440" cy="256032"/>
          </a:xfrm>
          <a:prstGeom prst="rect">
            <a:avLst/>
          </a:prstGeom>
          <a:noFill/>
          <a:ln/>
        </p:spPr>
        <p:txBody>
          <a:bodyPr wrap="square" lIns="0" tIns="0" rIns="0" bIns="0" rtlCol="0" anchor="ctr"/>
          <a:lstStyle/>
          <a:p>
            <a:pPr marL="0" indent="0">
              <a:buNone/>
            </a:pPr>
            <a:r>
              <a:rPr lang="en-US" sz="1050" b="1" kern="0" spc="150" dirty="0">
                <a:solidFill>
                  <a:srgbClr val="9A6A1E"/>
                </a:solidFill>
                <a:latin typeface="Calibri" pitchFamily="34" charset="0"/>
                <a:ea typeface="Calibri" pitchFamily="34" charset="-122"/>
                <a:cs typeface="Calibri" pitchFamily="34" charset="-120"/>
              </a:rPr>
              <a:t>CAUTION</a:t>
            </a:r>
            <a:endParaRPr lang="en-US" sz="1050" dirty="0"/>
          </a:p>
        </p:txBody>
      </p:sp>
      <p:sp>
        <p:nvSpPr>
          <p:cNvPr id="9" name="Text 7"/>
          <p:cNvSpPr/>
          <p:nvPr/>
        </p:nvSpPr>
        <p:spPr>
          <a:xfrm>
            <a:off x="914400" y="2148840"/>
            <a:ext cx="10378440" cy="1325880"/>
          </a:xfrm>
          <a:prstGeom prst="rect">
            <a:avLst/>
          </a:prstGeom>
          <a:noFill/>
          <a:ln/>
        </p:spPr>
        <p:txBody>
          <a:bodyPr wrap="square" lIns="0" tIns="0" rIns="0" bIns="0" rtlCol="0" anchor="t"/>
          <a:lstStyle/>
          <a:p>
            <a:pPr marL="0" indent="0">
              <a:lnSpc>
                <a:spcPct val="115000"/>
              </a:lnSpc>
              <a:buNone/>
            </a:pPr>
            <a:r>
              <a:rPr lang="en-US" sz="1100" dirty="0">
                <a:solidFill>
                  <a:srgbClr val="6B4E24"/>
                </a:solidFill>
                <a:latin typeface="Calibri" pitchFamily="34" charset="0"/>
                <a:ea typeface="Calibri" pitchFamily="34" charset="-122"/>
                <a:cs typeface="Calibri" pitchFamily="34" charset="-120"/>
              </a:rPr>
              <a:t>Subject to the current Platts methodology, DES NWE marks should be treated as normalised physical cargo assessments rather than literal single-cargo trade prints. Underlying bids, offers and trades may differ by volume, delivery window, port optionality, quality and other commercial terms within the methodology. For curve marking, Platts DES NWE should be used as one front-end observable, and reconciled against TTF, local hub basis, executed cargoes and the portfolio's own physical evidence.</a:t>
            </a:r>
            <a:endParaRPr lang="en-US" sz="1100" dirty="0"/>
          </a:p>
        </p:txBody>
      </p:sp>
      <p:sp>
        <p:nvSpPr>
          <p:cNvPr id="10" name="Text 8"/>
          <p:cNvSpPr/>
          <p:nvPr/>
        </p:nvSpPr>
        <p:spPr>
          <a:xfrm>
            <a:off x="685800" y="3931920"/>
            <a:ext cx="548640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CEILING AND FLOOR</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4251960"/>
          <a:ext cx="10835640" cy="1104900"/>
        </p:xfrm>
        <a:graphic>
          <a:graphicData uri="http://schemas.openxmlformats.org/drawingml/2006/table">
            <a:tbl>
              <a:tblPr/>
              <a:tblGrid>
                <a:gridCol w="14630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Bound</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Level (late June 2026)</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Ceiling</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JKM minus incremental freight east — above this, cargoes divert to Asia and DES NWE cannot clear higher</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Date-specific: JKM minus incremental freight / timing / operational penalty</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Floor</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US-linked short-run lifting economics — broadly 115% Henry Hub plus variable liquefaction / fuel and destination shipping costs; below this, flexible US cargoes may be cancelled or turned down where the contract permits</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1050" dirty="0">
                          <a:solidFill>
                            <a:srgbClr val="1C2B3A"/>
                          </a:solidFill>
                          <a:latin typeface="Calibri" pitchFamily="34" charset="0"/>
                          <a:ea typeface="Calibri" pitchFamily="34" charset="-122"/>
                          <a:cs typeface="Calibri" pitchFamily="34" charset="-120"/>
                        </a:rPr>
                        <a:t>TTF near $14, HH near $3.3</a:t>
                      </a:r>
                      <a:endParaRPr lang="en-US" sz="105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extLst>
                  <a:ext uri="{0D108BD9-81ED-4DB2-BD59-A6C34878D82A}">
                    <a16:rowId xmlns:a16="http://schemas.microsoft.com/office/drawing/2014/main" val="10002"/>
                  </a:ext>
                </a:extLst>
              </a:tr>
            </a:tbl>
          </a:graphicData>
        </a:graphic>
      </p:graphicFrame>
      <p:sp>
        <p:nvSpPr>
          <p:cNvPr id="12" name="Text 9"/>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 of 12   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BENCHMARKS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Henry Hub, TTF and JKM: benchmark relationships and European LNG pricing</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554480"/>
            <a:ext cx="3520440" cy="1417320"/>
          </a:xfrm>
          <a:prstGeom prst="roundRect">
            <a:avLst>
              <a:gd name="adj" fmla="val 4516"/>
            </a:avLst>
          </a:prstGeom>
          <a:solidFill>
            <a:srgbClr val="F1F6F8"/>
          </a:solidFill>
          <a:ln/>
          <a:effectLst>
            <a:outerShdw blurRad="101600" dist="38100" dir="2700000" algn="bl" rotWithShape="0">
              <a:srgbClr val="000000">
                <a:alpha val="12000"/>
              </a:srgbClr>
            </a:outerShdw>
          </a:effectLst>
        </p:spPr>
      </p:sp>
      <p:sp>
        <p:nvSpPr>
          <p:cNvPr id="8" name="Text 6"/>
          <p:cNvSpPr/>
          <p:nvPr/>
        </p:nvSpPr>
        <p:spPr>
          <a:xfrm>
            <a:off x="868680" y="1645920"/>
            <a:ext cx="315468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Henry Hub</a:t>
            </a:r>
            <a:endParaRPr lang="en-US" sz="1400" dirty="0"/>
          </a:p>
        </p:txBody>
      </p:sp>
      <p:sp>
        <p:nvSpPr>
          <p:cNvPr id="9" name="Text 7"/>
          <p:cNvSpPr/>
          <p:nvPr/>
        </p:nvSpPr>
        <p:spPr>
          <a:xfrm>
            <a:off x="868680" y="1938528"/>
            <a:ext cx="3154680" cy="960120"/>
          </a:xfrm>
          <a:prstGeom prst="rect">
            <a:avLst/>
          </a:prstGeom>
          <a:noFill/>
          <a:ln/>
        </p:spPr>
        <p:txBody>
          <a:bodyPr wrap="square" lIns="0" tIns="0" rIns="0" bIns="0" rtlCol="0" anchor="t"/>
          <a:lstStyle/>
          <a:p>
            <a:pPr marL="0" indent="0">
              <a:lnSpc>
                <a:spcPct val="110000"/>
              </a:lnSpc>
              <a:buNone/>
            </a:pPr>
            <a:r>
              <a:rPr lang="en-US" sz="970" dirty="0">
                <a:solidFill>
                  <a:srgbClr val="1C2B3A"/>
                </a:solidFill>
                <a:latin typeface="Calibri" pitchFamily="34" charset="0"/>
                <a:ea typeface="Calibri" pitchFamily="34" charset="-122"/>
                <a:cs typeface="Calibri" pitchFamily="34" charset="-120"/>
              </a:rPr>
              <a:t>US domestic benchmark and cost anchor for US FOB LNG (~115% HH plus tolling and variable costs). For short-run cancellation decisions the toll may be sunk — the real floor is variable feedgas, liquefaction/fuel and shipping economics.</a:t>
            </a:r>
            <a:endParaRPr lang="en-US" sz="970" dirty="0"/>
          </a:p>
        </p:txBody>
      </p:sp>
      <p:sp>
        <p:nvSpPr>
          <p:cNvPr id="10" name="Shape 8"/>
          <p:cNvSpPr/>
          <p:nvPr/>
        </p:nvSpPr>
        <p:spPr>
          <a:xfrm>
            <a:off x="4389120" y="1554480"/>
            <a:ext cx="3520440" cy="1417320"/>
          </a:xfrm>
          <a:prstGeom prst="roundRect">
            <a:avLst>
              <a:gd name="adj" fmla="val 4516"/>
            </a:avLst>
          </a:prstGeom>
          <a:solidFill>
            <a:srgbClr val="F1F6F8"/>
          </a:solidFill>
          <a:ln/>
          <a:effectLst>
            <a:outerShdw blurRad="101600" dist="38100" dir="2700000" algn="bl" rotWithShape="0">
              <a:srgbClr val="000000">
                <a:alpha val="12000"/>
              </a:srgbClr>
            </a:outerShdw>
          </a:effectLst>
        </p:spPr>
      </p:sp>
      <p:sp>
        <p:nvSpPr>
          <p:cNvPr id="11" name="Text 9"/>
          <p:cNvSpPr/>
          <p:nvPr/>
        </p:nvSpPr>
        <p:spPr>
          <a:xfrm>
            <a:off x="4572000" y="1645920"/>
            <a:ext cx="315468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TTF</a:t>
            </a:r>
            <a:endParaRPr lang="en-US" sz="1400" dirty="0"/>
          </a:p>
        </p:txBody>
      </p:sp>
      <p:sp>
        <p:nvSpPr>
          <p:cNvPr id="12" name="Text 10"/>
          <p:cNvSpPr/>
          <p:nvPr/>
        </p:nvSpPr>
        <p:spPr>
          <a:xfrm>
            <a:off x="4572000" y="1938528"/>
            <a:ext cx="3154680" cy="960120"/>
          </a:xfrm>
          <a:prstGeom prst="rect">
            <a:avLst/>
          </a:prstGeom>
          <a:noFill/>
          <a:ln/>
        </p:spPr>
        <p:txBody>
          <a:bodyPr wrap="square" lIns="0" tIns="0" rIns="0" bIns="0" rtlCol="0" anchor="t"/>
          <a:lstStyle/>
          <a:p>
            <a:pPr marL="0" indent="0">
              <a:lnSpc>
                <a:spcPct val="110000"/>
              </a:lnSpc>
              <a:buNone/>
            </a:pPr>
            <a:r>
              <a:rPr lang="en-US" sz="970" dirty="0">
                <a:solidFill>
                  <a:srgbClr val="1C2B3A"/>
                </a:solidFill>
                <a:latin typeface="Calibri" pitchFamily="34" charset="0"/>
                <a:ea typeface="Calibri" pitchFamily="34" charset="-122"/>
                <a:cs typeface="Calibri" pitchFamily="34" charset="-120"/>
              </a:rPr>
              <a:t>Europe's dominant hub and main hedge/monetisation benchmark for DES NWE. DES prices as a basis to TTF, not TTF-only — NBP, PVB/MIBGAS, PEG/TRF, THE, PSV, ZTP matter locally. Oil indexation is now marginal for European spot/DES pricing.</a:t>
            </a:r>
            <a:endParaRPr lang="en-US" sz="970" dirty="0"/>
          </a:p>
        </p:txBody>
      </p:sp>
      <p:sp>
        <p:nvSpPr>
          <p:cNvPr id="13" name="Shape 11"/>
          <p:cNvSpPr/>
          <p:nvPr/>
        </p:nvSpPr>
        <p:spPr>
          <a:xfrm>
            <a:off x="8092440" y="1554480"/>
            <a:ext cx="3520440" cy="1417320"/>
          </a:xfrm>
          <a:prstGeom prst="roundRect">
            <a:avLst>
              <a:gd name="adj" fmla="val 4516"/>
            </a:avLst>
          </a:prstGeom>
          <a:solidFill>
            <a:srgbClr val="F1F6F8"/>
          </a:solidFill>
          <a:ln/>
          <a:effectLst>
            <a:outerShdw blurRad="101600" dist="38100" dir="2700000" algn="bl" rotWithShape="0">
              <a:srgbClr val="000000">
                <a:alpha val="12000"/>
              </a:srgbClr>
            </a:outerShdw>
          </a:effectLst>
        </p:spPr>
      </p:sp>
      <p:sp>
        <p:nvSpPr>
          <p:cNvPr id="14" name="Text 12"/>
          <p:cNvSpPr/>
          <p:nvPr/>
        </p:nvSpPr>
        <p:spPr>
          <a:xfrm>
            <a:off x="8275320" y="1645920"/>
            <a:ext cx="315468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JKM</a:t>
            </a:r>
            <a:endParaRPr lang="en-US" sz="1400" dirty="0"/>
          </a:p>
        </p:txBody>
      </p:sp>
      <p:sp>
        <p:nvSpPr>
          <p:cNvPr id="15" name="Text 13"/>
          <p:cNvSpPr/>
          <p:nvPr/>
        </p:nvSpPr>
        <p:spPr>
          <a:xfrm>
            <a:off x="8275320" y="1938528"/>
            <a:ext cx="3154680" cy="960120"/>
          </a:xfrm>
          <a:prstGeom prst="rect">
            <a:avLst/>
          </a:prstGeom>
          <a:noFill/>
          <a:ln/>
        </p:spPr>
        <p:txBody>
          <a:bodyPr wrap="square" lIns="0" tIns="0" rIns="0" bIns="0" rtlCol="0" anchor="t"/>
          <a:lstStyle/>
          <a:p>
            <a:pPr marL="0" indent="0">
              <a:lnSpc>
                <a:spcPct val="110000"/>
              </a:lnSpc>
              <a:buNone/>
            </a:pPr>
            <a:r>
              <a:rPr lang="en-US" sz="970" dirty="0">
                <a:solidFill>
                  <a:srgbClr val="1C2B3A"/>
                </a:solidFill>
                <a:latin typeface="Calibri" pitchFamily="34" charset="0"/>
                <a:ea typeface="Calibri" pitchFamily="34" charset="-122"/>
                <a:cs typeface="Calibri" pitchFamily="34" charset="-120"/>
              </a:rPr>
              <a:t>Asian spot marker. Competes with TTF for every flexible Atlantic cargo; JKM minus TTF net of freight steers diversions between basins.</a:t>
            </a:r>
            <a:endParaRPr lang="en-US" sz="970" dirty="0"/>
          </a:p>
        </p:txBody>
      </p:sp>
      <p:sp>
        <p:nvSpPr>
          <p:cNvPr id="16" name="Text 14"/>
          <p:cNvSpPr/>
          <p:nvPr/>
        </p:nvSpPr>
        <p:spPr>
          <a:xfrm>
            <a:off x="685800" y="315468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HOW THEY INTERACT</a:t>
            </a:r>
            <a:endParaRPr lang="en-US" sz="1200" dirty="0"/>
          </a:p>
        </p:txBody>
      </p:sp>
      <p:sp>
        <p:nvSpPr>
          <p:cNvPr id="17" name="Text 15"/>
          <p:cNvSpPr/>
          <p:nvPr/>
        </p:nvSpPr>
        <p:spPr>
          <a:xfrm>
            <a:off x="685800" y="3456432"/>
            <a:ext cx="10789920" cy="13258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European netback minus US short-run lifting cost = variable margin of flexible US LNG; when negative, cancellation or turndown rights may create a soft floor where contracts permit</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JKM minus TTF (net of freight) allocates flexible supply between basins; March 2026 flip to a ~$2.8 Asian premium pulled cargoes east</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In a glut, Europe absorbs surplus into storage and TTF can converge toward the HH-linked US LNG short-run cost floor; in a squeeze, TTF must outbid JKM for reloads and flexible cargoes</a:t>
            </a:r>
            <a:endParaRPr lang="en-US" sz="1250" dirty="0"/>
          </a:p>
        </p:txBody>
      </p:sp>
      <p:sp>
        <p:nvSpPr>
          <p:cNvPr id="18" name="Shape 16"/>
          <p:cNvSpPr/>
          <p:nvPr/>
        </p:nvSpPr>
        <p:spPr>
          <a:xfrm>
            <a:off x="685800" y="4892040"/>
            <a:ext cx="3383280" cy="777240"/>
          </a:xfrm>
          <a:prstGeom prst="roundRect">
            <a:avLst>
              <a:gd name="adj" fmla="val 9412"/>
            </a:avLst>
          </a:prstGeom>
          <a:solidFill>
            <a:srgbClr val="F1F6F8"/>
          </a:solidFill>
          <a:ln/>
          <a:effectLst>
            <a:outerShdw blurRad="101600" dist="38100" dir="2700000" algn="bl" rotWithShape="0">
              <a:srgbClr val="000000">
                <a:alpha val="12000"/>
              </a:srgbClr>
            </a:outerShdw>
          </a:effectLst>
        </p:spPr>
      </p:sp>
      <p:sp>
        <p:nvSpPr>
          <p:cNvPr id="19" name="Text 17"/>
          <p:cNvSpPr/>
          <p:nvPr/>
        </p:nvSpPr>
        <p:spPr>
          <a:xfrm>
            <a:off x="914400" y="4983480"/>
            <a:ext cx="2926080" cy="310896"/>
          </a:xfrm>
          <a:prstGeom prst="rect">
            <a:avLst/>
          </a:prstGeom>
          <a:noFill/>
          <a:ln/>
        </p:spPr>
        <p:txBody>
          <a:bodyPr wrap="square" lIns="0" tIns="0" rIns="0" bIns="0" rtlCol="0" anchor="ctr"/>
          <a:lstStyle/>
          <a:p>
            <a:pPr marL="0" indent="0">
              <a:buNone/>
            </a:pPr>
            <a:r>
              <a:rPr lang="en-US" sz="1900" b="1" dirty="0">
                <a:solidFill>
                  <a:srgbClr val="065A82"/>
                </a:solidFill>
                <a:latin typeface="Cambria" pitchFamily="34" charset="0"/>
                <a:ea typeface="Cambria" pitchFamily="34" charset="-122"/>
                <a:cs typeface="Cambria" pitchFamily="34" charset="-120"/>
              </a:rPr>
              <a:t>$3.3</a:t>
            </a:r>
            <a:endParaRPr lang="en-US" sz="1900" dirty="0"/>
          </a:p>
        </p:txBody>
      </p:sp>
      <p:sp>
        <p:nvSpPr>
          <p:cNvPr id="20" name="Text 18"/>
          <p:cNvSpPr/>
          <p:nvPr/>
        </p:nvSpPr>
        <p:spPr>
          <a:xfrm>
            <a:off x="914400" y="5294376"/>
            <a:ext cx="2926080" cy="301752"/>
          </a:xfrm>
          <a:prstGeom prst="rect">
            <a:avLst/>
          </a:prstGeom>
          <a:noFill/>
          <a:ln/>
        </p:spPr>
        <p:txBody>
          <a:bodyPr wrap="square" lIns="0" tIns="0" rIns="0" bIns="0" rtlCol="0" anchor="t"/>
          <a:lstStyle/>
          <a:p>
            <a:pPr marL="0" indent="0">
              <a:lnSpc>
                <a:spcPct val="108000"/>
              </a:lnSpc>
              <a:buNone/>
            </a:pPr>
            <a:r>
              <a:rPr lang="en-US" sz="880" dirty="0">
                <a:solidFill>
                  <a:srgbClr val="1C2B3A"/>
                </a:solidFill>
                <a:latin typeface="Calibri" pitchFamily="34" charset="0"/>
                <a:ea typeface="Calibri" pitchFamily="34" charset="-122"/>
                <a:cs typeface="Calibri" pitchFamily="34" charset="-120"/>
              </a:rPr>
              <a:t>Henry Hub, $/MMBtu, late June 2026</a:t>
            </a:r>
            <a:endParaRPr lang="en-US" sz="880" dirty="0"/>
          </a:p>
        </p:txBody>
      </p:sp>
      <p:sp>
        <p:nvSpPr>
          <p:cNvPr id="21" name="Shape 19"/>
          <p:cNvSpPr/>
          <p:nvPr/>
        </p:nvSpPr>
        <p:spPr>
          <a:xfrm>
            <a:off x="4206240" y="4892040"/>
            <a:ext cx="3383280" cy="777240"/>
          </a:xfrm>
          <a:prstGeom prst="roundRect">
            <a:avLst>
              <a:gd name="adj" fmla="val 9412"/>
            </a:avLst>
          </a:prstGeom>
          <a:solidFill>
            <a:srgbClr val="F1F6F8"/>
          </a:solidFill>
          <a:ln/>
          <a:effectLst>
            <a:outerShdw blurRad="101600" dist="38100" dir="2700000" algn="bl" rotWithShape="0">
              <a:srgbClr val="000000">
                <a:alpha val="12000"/>
              </a:srgbClr>
            </a:outerShdw>
          </a:effectLst>
        </p:spPr>
      </p:sp>
      <p:sp>
        <p:nvSpPr>
          <p:cNvPr id="22" name="Text 20"/>
          <p:cNvSpPr/>
          <p:nvPr/>
        </p:nvSpPr>
        <p:spPr>
          <a:xfrm>
            <a:off x="4434840" y="4983480"/>
            <a:ext cx="2926080" cy="310896"/>
          </a:xfrm>
          <a:prstGeom prst="rect">
            <a:avLst/>
          </a:prstGeom>
          <a:noFill/>
          <a:ln/>
        </p:spPr>
        <p:txBody>
          <a:bodyPr wrap="square" lIns="0" tIns="0" rIns="0" bIns="0" rtlCol="0" anchor="ctr"/>
          <a:lstStyle/>
          <a:p>
            <a:pPr marL="0" indent="0">
              <a:buNone/>
            </a:pPr>
            <a:r>
              <a:rPr lang="en-US" sz="1900" b="1" dirty="0">
                <a:solidFill>
                  <a:srgbClr val="065A82"/>
                </a:solidFill>
                <a:latin typeface="Cambria" pitchFamily="34" charset="0"/>
                <a:ea typeface="Cambria" pitchFamily="34" charset="-122"/>
                <a:cs typeface="Cambria" pitchFamily="34" charset="-120"/>
              </a:rPr>
              <a:t>$14.1</a:t>
            </a:r>
            <a:endParaRPr lang="en-US" sz="1900" dirty="0"/>
          </a:p>
        </p:txBody>
      </p:sp>
      <p:sp>
        <p:nvSpPr>
          <p:cNvPr id="23" name="Text 21"/>
          <p:cNvSpPr/>
          <p:nvPr/>
        </p:nvSpPr>
        <p:spPr>
          <a:xfrm>
            <a:off x="4434840" y="5294376"/>
            <a:ext cx="2926080" cy="301752"/>
          </a:xfrm>
          <a:prstGeom prst="rect">
            <a:avLst/>
          </a:prstGeom>
          <a:noFill/>
          <a:ln/>
        </p:spPr>
        <p:txBody>
          <a:bodyPr wrap="square" lIns="0" tIns="0" rIns="0" bIns="0" rtlCol="0" anchor="t"/>
          <a:lstStyle/>
          <a:p>
            <a:pPr marL="0" indent="0">
              <a:lnSpc>
                <a:spcPct val="108000"/>
              </a:lnSpc>
              <a:buNone/>
            </a:pPr>
            <a:r>
              <a:rPr lang="en-US" sz="880" dirty="0">
                <a:solidFill>
                  <a:srgbClr val="1C2B3A"/>
                </a:solidFill>
                <a:latin typeface="Calibri" pitchFamily="34" charset="0"/>
                <a:ea typeface="Calibri" pitchFamily="34" charset="-122"/>
                <a:cs typeface="Calibri" pitchFamily="34" charset="-120"/>
              </a:rPr>
              <a:t>TTF, $/MMBtu, late June 2026</a:t>
            </a:r>
            <a:endParaRPr lang="en-US" sz="880" dirty="0"/>
          </a:p>
        </p:txBody>
      </p:sp>
      <p:sp>
        <p:nvSpPr>
          <p:cNvPr id="24" name="Shape 22"/>
          <p:cNvSpPr/>
          <p:nvPr/>
        </p:nvSpPr>
        <p:spPr>
          <a:xfrm>
            <a:off x="7726680" y="4892040"/>
            <a:ext cx="3794760" cy="777240"/>
          </a:xfrm>
          <a:prstGeom prst="roundRect">
            <a:avLst>
              <a:gd name="adj" fmla="val 9412"/>
            </a:avLst>
          </a:prstGeom>
          <a:solidFill>
            <a:srgbClr val="F1F6F8"/>
          </a:solidFill>
          <a:ln/>
          <a:effectLst>
            <a:outerShdw blurRad="101600" dist="38100" dir="2700000" algn="bl" rotWithShape="0">
              <a:srgbClr val="000000">
                <a:alpha val="12000"/>
              </a:srgbClr>
            </a:outerShdw>
          </a:effectLst>
        </p:spPr>
      </p:sp>
      <p:sp>
        <p:nvSpPr>
          <p:cNvPr id="25" name="Text 23"/>
          <p:cNvSpPr/>
          <p:nvPr/>
        </p:nvSpPr>
        <p:spPr>
          <a:xfrm>
            <a:off x="7955280" y="4983480"/>
            <a:ext cx="3337560" cy="310896"/>
          </a:xfrm>
          <a:prstGeom prst="rect">
            <a:avLst/>
          </a:prstGeom>
          <a:noFill/>
          <a:ln/>
        </p:spPr>
        <p:txBody>
          <a:bodyPr wrap="square" lIns="0" tIns="0" rIns="0" bIns="0" rtlCol="0" anchor="ctr"/>
          <a:lstStyle/>
          <a:p>
            <a:pPr marL="0" indent="0">
              <a:buNone/>
            </a:pPr>
            <a:r>
              <a:rPr lang="en-US" sz="1900" b="1" dirty="0">
                <a:solidFill>
                  <a:srgbClr val="065A82"/>
                </a:solidFill>
                <a:latin typeface="Cambria" pitchFamily="34" charset="0"/>
                <a:ea typeface="Cambria" pitchFamily="34" charset="-122"/>
                <a:cs typeface="Cambria" pitchFamily="34" charset="-120"/>
              </a:rPr>
              <a:t>$15.7</a:t>
            </a:r>
            <a:endParaRPr lang="en-US" sz="1900" dirty="0"/>
          </a:p>
        </p:txBody>
      </p:sp>
      <p:sp>
        <p:nvSpPr>
          <p:cNvPr id="26" name="Text 24"/>
          <p:cNvSpPr/>
          <p:nvPr/>
        </p:nvSpPr>
        <p:spPr>
          <a:xfrm>
            <a:off x="7955280" y="5294376"/>
            <a:ext cx="3337560" cy="301752"/>
          </a:xfrm>
          <a:prstGeom prst="rect">
            <a:avLst/>
          </a:prstGeom>
          <a:noFill/>
          <a:ln/>
        </p:spPr>
        <p:txBody>
          <a:bodyPr wrap="square" lIns="0" tIns="0" rIns="0" bIns="0" rtlCol="0" anchor="t"/>
          <a:lstStyle/>
          <a:p>
            <a:pPr marL="0" indent="0">
              <a:lnSpc>
                <a:spcPct val="108000"/>
              </a:lnSpc>
              <a:buNone/>
            </a:pPr>
            <a:r>
              <a:rPr lang="en-US" sz="880" dirty="0">
                <a:solidFill>
                  <a:srgbClr val="1C2B3A"/>
                </a:solidFill>
                <a:latin typeface="Calibri" pitchFamily="34" charset="0"/>
                <a:ea typeface="Calibri" pitchFamily="34" charset="-122"/>
                <a:cs typeface="Calibri" pitchFamily="34" charset="-120"/>
              </a:rPr>
              <a:t>JKM, $/MMBtu, late June 2026</a:t>
            </a:r>
            <a:endParaRPr lang="en-US" sz="880" dirty="0"/>
          </a:p>
        </p:txBody>
      </p:sp>
      <p:sp>
        <p:nvSpPr>
          <p:cNvPr id="27" name="Text 25"/>
          <p:cNvSpPr/>
          <p:nvPr/>
        </p:nvSpPr>
        <p:spPr>
          <a:xfrm>
            <a:off x="685800" y="5760720"/>
            <a:ext cx="10835640" cy="640080"/>
          </a:xfrm>
          <a:prstGeom prst="rect">
            <a:avLst/>
          </a:prstGeom>
          <a:noFill/>
          <a:ln/>
        </p:spPr>
        <p:txBody>
          <a:bodyPr wrap="square" lIns="0" tIns="0" rIns="0" bIns="0" rtlCol="0" anchor="t"/>
          <a:lstStyle/>
          <a:p>
            <a:pPr marL="0" indent="0">
              <a:lnSpc>
                <a:spcPct val="115000"/>
              </a:lnSpc>
              <a:buNone/>
            </a:pPr>
            <a:r>
              <a:rPr lang="en-US" sz="1000" i="1" dirty="0">
                <a:solidFill>
                  <a:srgbClr val="5C7080"/>
                </a:solidFill>
                <a:latin typeface="Calibri" pitchFamily="34" charset="0"/>
                <a:ea typeface="Calibri" pitchFamily="34" charset="-122"/>
                <a:cs typeface="Calibri" pitchFamily="34" charset="-120"/>
              </a:rPr>
              <a:t>June 2026 monthly averages (the flow-relevant measure): JKM 17.33 vs TTF 13.19 — a ~$4.1 premium; pushed Europe's share of US LNG exports below half for the first time since Jul 2024.</a:t>
            </a:r>
            <a:endParaRPr lang="en-US" sz="1000" dirty="0"/>
          </a:p>
        </p:txBody>
      </p:sp>
      <p:sp>
        <p:nvSpPr>
          <p:cNvPr id="28" name="Text 26"/>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Q2 of 12   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REGASIFICATION VALUE</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European regasification capacity and terminal-slot valuation</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VALUE = STRIP OF SPREAD OPTIONS</a:t>
            </a:r>
            <a:endParaRPr lang="en-US" sz="1200" dirty="0"/>
          </a:p>
        </p:txBody>
      </p:sp>
      <p:sp>
        <p:nvSpPr>
          <p:cNvPr id="8" name="Text 6"/>
          <p:cNvSpPr/>
          <p:nvPr/>
        </p:nvSpPr>
        <p:spPr>
          <a:xfrm>
            <a:off x="685800" y="1920240"/>
            <a:ext cx="5257800" cy="4206240"/>
          </a:xfrm>
          <a:prstGeom prst="rect">
            <a:avLst/>
          </a:prstGeom>
          <a:noFill/>
          <a:ln/>
        </p:spPr>
        <p:txBody>
          <a:bodyPr wrap="square" lIns="0" tIns="0" rIns="0" bIns="0" rtlCol="0" anchor="t"/>
          <a:lstStyle/>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Per slot — </a:t>
            </a:r>
            <a:r>
              <a:rPr lang="en-US" sz="1100" dirty="0">
                <a:solidFill>
                  <a:srgbClr val="1C2B3A"/>
                </a:solidFill>
                <a:latin typeface="Calibri" pitchFamily="34" charset="0"/>
                <a:ea typeface="Calibri" pitchFamily="34" charset="-122"/>
                <a:cs typeface="Calibri" pitchFamily="34" charset="-120"/>
              </a:rPr>
              <a:t>expected value of max(hub forward value of regasified gas minus DES LNG cost minus variable regas cost, 0)</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Intrinsic — </a:t>
            </a:r>
            <a:r>
              <a:rPr lang="en-US" sz="1100" dirty="0">
                <a:solidFill>
                  <a:srgbClr val="1C2B3A"/>
                </a:solidFill>
                <a:latin typeface="Calibri" pitchFamily="34" charset="0"/>
                <a:ea typeface="Calibri" pitchFamily="34" charset="-122"/>
                <a:cs typeface="Calibri" pitchFamily="34" charset="-120"/>
              </a:rPr>
              <a:t>today's forward local hub versus DES basis net of tariff, entry costs and losses (TTF is the main NWE hedge; NBP, PVB/MIBGAS, PEG/TRF, THE, PSV, ZTP matter locally)</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Extrinsic — </a:t>
            </a:r>
            <a:r>
              <a:rPr lang="en-US" sz="1100" dirty="0">
                <a:solidFill>
                  <a:srgbClr val="1C2B3A"/>
                </a:solidFill>
                <a:latin typeface="Calibri" pitchFamily="34" charset="0"/>
                <a:ea typeface="Calibri" pitchFamily="34" charset="-122"/>
                <a:cs typeface="Calibri" pitchFamily="34" charset="-120"/>
              </a:rPr>
              <a:t>volatility of that basis; 2022 and 2026 crises are the proof that scarcity states dominate the value, need to be taken with caution, as once purchase is a sunk cost (secondary market is part of solution)</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Ancillary — </a:t>
            </a:r>
            <a:r>
              <a:rPr lang="en-US" sz="1100" dirty="0">
                <a:solidFill>
                  <a:srgbClr val="1C2B3A"/>
                </a:solidFill>
                <a:latin typeface="Calibri" pitchFamily="34" charset="0"/>
                <a:ea typeface="Calibri" pitchFamily="34" charset="-122"/>
                <a:cs typeface="Calibri" pitchFamily="34" charset="-120"/>
              </a:rPr>
              <a:t>tank storage play, reload and re-export rights, truck loading, berthing flexibility, storage </a:t>
            </a:r>
            <a:r>
              <a:rPr lang="en-US" sz="1100" dirty="0" err="1">
                <a:solidFill>
                  <a:srgbClr val="1C2B3A"/>
                </a:solidFill>
                <a:latin typeface="Calibri" pitchFamily="34" charset="0"/>
                <a:ea typeface="Calibri" pitchFamily="34" charset="-122"/>
                <a:cs typeface="Calibri" pitchFamily="34" charset="-120"/>
              </a:rPr>
              <a:t>flexilibity</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Strategic — </a:t>
            </a:r>
            <a:r>
              <a:rPr lang="en-US" sz="1100" dirty="0">
                <a:solidFill>
                  <a:srgbClr val="1C2B3A"/>
                </a:solidFill>
                <a:latin typeface="Calibri" pitchFamily="34" charset="0"/>
                <a:ea typeface="Calibri" pitchFamily="34" charset="-122"/>
                <a:cs typeface="Calibri" pitchFamily="34" charset="-120"/>
              </a:rPr>
              <a:t>security-of-supply and the option to land portfolio length; valued by portfolio simulation, not standalone</a:t>
            </a:r>
            <a:endParaRPr lang="en-US" sz="1100" dirty="0"/>
          </a:p>
        </p:txBody>
      </p:sp>
      <p:sp>
        <p:nvSpPr>
          <p:cNvPr id="9" name="Text 7"/>
          <p:cNvSpPr/>
          <p:nvPr/>
        </p:nvSpPr>
        <p:spPr>
          <a:xfrm>
            <a:off x="626364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METHOD AND CALIBRATION</a:t>
            </a:r>
            <a:endParaRPr lang="en-US" sz="1200" dirty="0"/>
          </a:p>
        </p:txBody>
      </p:sp>
      <p:sp>
        <p:nvSpPr>
          <p:cNvPr id="10" name="Text 8"/>
          <p:cNvSpPr/>
          <p:nvPr/>
        </p:nvSpPr>
        <p:spPr>
          <a:xfrm>
            <a:off x="6263640" y="1920240"/>
            <a:ext cx="5212080" cy="33832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Model as spread option or Monte Carlo on the relevant local hub vs DES, with send-out limits, berth windows, boil-off, entry costs and tariff structure</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Respect use-it-or-lose-it and third-party access rules; haircut for slot inflexibility and nomination deadlines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Calibrate to observables: secondary capacity trades and auction results (Gate, Zeebrugge, Grain, German FSRUs)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Cross-check: implied basis vol from TTF options plus historic DES basis; stress with the 2022 scarcity regime</a:t>
            </a:r>
            <a:endParaRPr lang="en-US" sz="1250" dirty="0"/>
          </a:p>
        </p:txBody>
      </p:sp>
      <p:sp>
        <p:nvSpPr>
          <p:cNvPr id="11" name="Text 9"/>
          <p:cNvSpPr/>
          <p:nvPr/>
        </p:nvSpPr>
        <p:spPr>
          <a:xfrm>
            <a:off x="6263640" y="5257800"/>
            <a:ext cx="5212080" cy="1051560"/>
          </a:xfrm>
          <a:prstGeom prst="rect">
            <a:avLst/>
          </a:prstGeom>
          <a:noFill/>
          <a:ln/>
        </p:spPr>
        <p:txBody>
          <a:bodyPr wrap="square" lIns="0" tIns="0" rIns="0" bIns="0" rtlCol="0" anchor="t"/>
          <a:lstStyle/>
          <a:p>
            <a:pPr marL="0" indent="0">
              <a:lnSpc>
                <a:spcPct val="115000"/>
              </a:lnSpc>
              <a:buNone/>
            </a:pPr>
            <a:r>
              <a:rPr lang="en-US" sz="1000" i="1" dirty="0">
                <a:solidFill>
                  <a:srgbClr val="5C7080"/>
                </a:solidFill>
                <a:latin typeface="Calibri" pitchFamily="34" charset="0"/>
                <a:ea typeface="Calibri" pitchFamily="34" charset="-122"/>
                <a:cs typeface="Calibri" pitchFamily="34" charset="-120"/>
              </a:rPr>
              <a:t>Current regime: with Europe structurally long regas since 2023, merchant intrinsic value is thin in aggregate; most of the price is optionality and insurance. Aggregate slack does not eliminate value at constrained or well-located terminals — Q1 2026: nine EU terminals ran above 80% utilisation while nine ran below 30%.</a:t>
            </a:r>
            <a:endParaRPr lang="en-US" sz="1000" dirty="0"/>
          </a:p>
        </p:txBody>
      </p:sp>
      <p:sp>
        <p:nvSpPr>
          <p:cNvPr id="12" name="Text 10"/>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Q3 of 12   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TRANSACTION STRUCTURING</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Complex LNG transaction structures: selected examples</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2983441001"/>
              </p:ext>
            </p:extLst>
          </p:nvPr>
        </p:nvGraphicFramePr>
        <p:xfrm>
          <a:off x="685800" y="1600200"/>
          <a:ext cx="10195560" cy="2702560"/>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0">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Transaction type</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Commercial issue</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Key risk</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Structuring solution</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800" b="1" dirty="0">
                          <a:solidFill>
                            <a:srgbClr val="FFFFFF"/>
                          </a:solidFill>
                          <a:latin typeface="Calibri" pitchFamily="34" charset="0"/>
                          <a:ea typeface="Calibri" pitchFamily="34" charset="-122"/>
                          <a:cs typeface="Calibri" pitchFamily="34" charset="-120"/>
                        </a:rPr>
                        <a:t>Structuring / valuation contribution</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Mid-term DES SPA — FM linked to specific seller facilities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Buyer wanted delivered LNG supply; seller's FM wording was linked to multiple seller facilities, not a clean generic FM standard.</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FM wording could let the seller allocate a shortfall disproportionately to this buyer, even with other unaffected facilities/portfolio supply available.</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Recast the clause so FM-related shortfall was allocated pro-rata across affected supply/customers, with clearer causation, mitigation and allocation language — avoiding discretionary allocation to one buyer.</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Identified hidden seller-favouring volume optionality. Quantified downside supply loss; helped move the contract toward fairer pro-rata allocation.</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Long-term Brent-linked SPA with cap/floor around a TTF-equivalent level</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SPA economics were primarily Brent-linked, while European monetisation and risk management were closer to TTF.</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Long-dated Brent/TTF basis risk and limited hedge liquidity beyond the liquid tenor; pure financial hedging would be expensive, incomplete or unavailable.</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Introduced contractual cap/floor mechanics around a TTF-equivalent level to bound exposure and reduce reliance on long-dated external hedges.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Converted an open-ended index mismatch into a defined risk corridor; reduced tail risk, lower hedge dependency, clearer approval limits.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SPA with a future ramp-up period</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Contracted supply started in the future with uncertain COD, ramp-up profile and available volumes.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Fixed long-term pricing during ramp-up could misprice start-up uncertainty; parties locked into volumes/prices before reliability was proven.</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Use spot/market-linked pricing during ramp-up; long-term formula applies only after defined commercial-operation/reliability milestones.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Separated commissioning risk from steady-state economics; treated ramp-up volumes as short-term market exposure, not full baseload supply.</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Portfolio SPA package with a cooling-off/approval period</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Portfolio transaction required a cooling-off or external regulation approval period between binding commitment and actual transaction.</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Market could move materially during cooling-off, leaving buyer or seller exposed to stale pricing.</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Lower the bid to compensate for the cooling-off, or introduce a tracker/price-adjustment mechanism linked to agreed market markers.</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800" dirty="0">
                          <a:solidFill>
                            <a:srgbClr val="1C2B3A"/>
                          </a:solidFill>
                          <a:latin typeface="Calibri" pitchFamily="34" charset="0"/>
                          <a:ea typeface="Calibri" pitchFamily="34" charset="-122"/>
                          <a:cs typeface="Calibri" pitchFamily="34" charset="-120"/>
                        </a:rPr>
                        <a:t>Framed cooling-off as an embedded semi-option; quantified market-move exposure and proposed an option discount or transparent tracker.</a:t>
                      </a:r>
                      <a:endParaRPr lang="en-US" sz="80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extLst>
                  <a:ext uri="{0D108BD9-81ED-4DB2-BD59-A6C34878D82A}">
                    <a16:rowId xmlns:a16="http://schemas.microsoft.com/office/drawing/2014/main" val="10004"/>
                  </a:ext>
                </a:extLst>
              </a:tr>
            </a:tbl>
          </a:graphicData>
        </a:graphic>
      </p:graphicFrame>
      <p:sp>
        <p:nvSpPr>
          <p:cNvPr id="8" name="Text 5"/>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Q4 of 12   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NETBACK ECONOMICS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US FOB cargo netback: Europe versus Asia</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600200"/>
            <a:ext cx="10835640" cy="548640"/>
          </a:xfrm>
          <a:prstGeom prst="roundRect">
            <a:avLst>
              <a:gd name="adj" fmla="val 11667"/>
            </a:avLst>
          </a:prstGeom>
          <a:solidFill>
            <a:srgbClr val="F1F6F8"/>
          </a:solidFill>
          <a:ln/>
          <a:effectLst>
            <a:outerShdw blurRad="101600" dist="38100" dir="2700000" algn="bl" rotWithShape="0">
              <a:srgbClr val="000000">
                <a:alpha val="12000"/>
              </a:srgbClr>
            </a:outerShdw>
          </a:effectLst>
        </p:spPr>
      </p:sp>
      <p:sp>
        <p:nvSpPr>
          <p:cNvPr id="8" name="Text 6"/>
          <p:cNvSpPr/>
          <p:nvPr/>
        </p:nvSpPr>
        <p:spPr>
          <a:xfrm>
            <a:off x="960120" y="1600200"/>
            <a:ext cx="10287000" cy="548640"/>
          </a:xfrm>
          <a:prstGeom prst="rect">
            <a:avLst/>
          </a:prstGeom>
          <a:noFill/>
          <a:ln/>
        </p:spPr>
        <p:txBody>
          <a:bodyPr wrap="square" lIns="0" tIns="0" rIns="0" bIns="0" rtlCol="0" anchor="ctr"/>
          <a:lstStyle/>
          <a:p>
            <a:pPr marL="0" indent="0" algn="ctr">
              <a:lnSpc>
                <a:spcPct val="130000"/>
              </a:lnSpc>
              <a:buNone/>
            </a:pPr>
            <a:r>
              <a:rPr lang="en-US" sz="1300" dirty="0">
                <a:solidFill>
                  <a:srgbClr val="1A2340"/>
                </a:solidFill>
                <a:latin typeface="Courier New" pitchFamily="34" charset="0"/>
                <a:ea typeface="Courier New" pitchFamily="34" charset="-122"/>
                <a:cs typeface="Courier New" pitchFamily="34" charset="-120"/>
              </a:rPr>
              <a:t>NB(Europe) = TTF (or DES NWE) − freight USG→NWE − regas and entry costs − losses</a:t>
            </a:r>
            <a:endParaRPr lang="en-US" sz="1300" dirty="0"/>
          </a:p>
        </p:txBody>
      </p:sp>
      <p:sp>
        <p:nvSpPr>
          <p:cNvPr id="9" name="Shape 7"/>
          <p:cNvSpPr/>
          <p:nvPr/>
        </p:nvSpPr>
        <p:spPr>
          <a:xfrm>
            <a:off x="685800" y="2240280"/>
            <a:ext cx="10835640" cy="548640"/>
          </a:xfrm>
          <a:prstGeom prst="roundRect">
            <a:avLst>
              <a:gd name="adj" fmla="val 11667"/>
            </a:avLst>
          </a:prstGeom>
          <a:solidFill>
            <a:srgbClr val="F1F6F8"/>
          </a:solidFill>
          <a:ln/>
          <a:effectLst>
            <a:outerShdw blurRad="101600" dist="38100" dir="2700000" algn="bl" rotWithShape="0">
              <a:srgbClr val="000000">
                <a:alpha val="12000"/>
              </a:srgbClr>
            </a:outerShdw>
          </a:effectLst>
        </p:spPr>
      </p:sp>
      <p:sp>
        <p:nvSpPr>
          <p:cNvPr id="10" name="Text 8"/>
          <p:cNvSpPr/>
          <p:nvPr/>
        </p:nvSpPr>
        <p:spPr>
          <a:xfrm>
            <a:off x="960120" y="2240280"/>
            <a:ext cx="10287000" cy="548640"/>
          </a:xfrm>
          <a:prstGeom prst="rect">
            <a:avLst/>
          </a:prstGeom>
          <a:noFill/>
          <a:ln/>
        </p:spPr>
        <p:txBody>
          <a:bodyPr wrap="square" lIns="0" tIns="0" rIns="0" bIns="0" rtlCol="0" anchor="ctr"/>
          <a:lstStyle/>
          <a:p>
            <a:pPr marL="0" indent="0" algn="ctr">
              <a:lnSpc>
                <a:spcPct val="130000"/>
              </a:lnSpc>
              <a:buNone/>
            </a:pPr>
            <a:r>
              <a:rPr lang="en-US" sz="1300" dirty="0">
                <a:solidFill>
                  <a:srgbClr val="1A2340"/>
                </a:solidFill>
                <a:latin typeface="Courier New" pitchFamily="34" charset="0"/>
                <a:ea typeface="Courier New" pitchFamily="34" charset="-122"/>
                <a:cs typeface="Courier New" pitchFamily="34" charset="-120"/>
              </a:rPr>
              <a:t>NB(Asia) = JKM − freight USG→Asia (Panama or Cape: hire, fuel, boil-off, canal) − losses</a:t>
            </a:r>
            <a:endParaRPr lang="en-US" sz="1300" dirty="0"/>
          </a:p>
        </p:txBody>
      </p:sp>
      <p:sp>
        <p:nvSpPr>
          <p:cNvPr id="11" name="Shape 9"/>
          <p:cNvSpPr/>
          <p:nvPr/>
        </p:nvSpPr>
        <p:spPr>
          <a:xfrm>
            <a:off x="685800" y="2971800"/>
            <a:ext cx="3383280" cy="868680"/>
          </a:xfrm>
          <a:prstGeom prst="roundRect">
            <a:avLst>
              <a:gd name="adj" fmla="val 8421"/>
            </a:avLst>
          </a:prstGeom>
          <a:solidFill>
            <a:srgbClr val="F1F6F8"/>
          </a:solidFill>
          <a:ln/>
          <a:effectLst>
            <a:outerShdw blurRad="101600" dist="38100" dir="2700000" algn="bl" rotWithShape="0">
              <a:srgbClr val="000000">
                <a:alpha val="12000"/>
              </a:srgbClr>
            </a:outerShdw>
          </a:effectLst>
        </p:spPr>
      </p:sp>
      <p:sp>
        <p:nvSpPr>
          <p:cNvPr id="12" name="Text 10"/>
          <p:cNvSpPr/>
          <p:nvPr/>
        </p:nvSpPr>
        <p:spPr>
          <a:xfrm>
            <a:off x="914400" y="3063240"/>
            <a:ext cx="2926080" cy="310896"/>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≈$12.8–13.1</a:t>
            </a:r>
            <a:endParaRPr lang="en-US" sz="1800" dirty="0"/>
          </a:p>
        </p:txBody>
      </p:sp>
      <p:sp>
        <p:nvSpPr>
          <p:cNvPr id="13" name="Text 11"/>
          <p:cNvSpPr/>
          <p:nvPr/>
        </p:nvSpPr>
        <p:spPr>
          <a:xfrm>
            <a:off x="914400" y="3374136"/>
            <a:ext cx="2926080" cy="393192"/>
          </a:xfrm>
          <a:prstGeom prst="rect">
            <a:avLst/>
          </a:prstGeom>
          <a:noFill/>
          <a:ln/>
        </p:spPr>
        <p:txBody>
          <a:bodyPr wrap="square" lIns="0" tIns="0" rIns="0" bIns="0" rtlCol="0" anchor="t"/>
          <a:lstStyle/>
          <a:p>
            <a:pPr marL="0" indent="0">
              <a:lnSpc>
                <a:spcPct val="108000"/>
              </a:lnSpc>
              <a:buNone/>
            </a:pPr>
            <a:r>
              <a:rPr lang="en-US" sz="860" dirty="0">
                <a:solidFill>
                  <a:srgbClr val="1C2B3A"/>
                </a:solidFill>
                <a:latin typeface="Calibri" pitchFamily="34" charset="0"/>
                <a:ea typeface="Calibri" pitchFamily="34" charset="-122"/>
                <a:cs typeface="Calibri" pitchFamily="34" charset="-120"/>
              </a:rPr>
              <a:t>Europe netback, $/MMBtu, late June 2026 (dated spot snapshot)</a:t>
            </a:r>
            <a:endParaRPr lang="en-US" sz="860" dirty="0"/>
          </a:p>
        </p:txBody>
      </p:sp>
      <p:sp>
        <p:nvSpPr>
          <p:cNvPr id="14" name="Shape 12"/>
          <p:cNvSpPr/>
          <p:nvPr/>
        </p:nvSpPr>
        <p:spPr>
          <a:xfrm>
            <a:off x="4206240" y="2971800"/>
            <a:ext cx="3383280" cy="868680"/>
          </a:xfrm>
          <a:prstGeom prst="roundRect">
            <a:avLst>
              <a:gd name="adj" fmla="val 8421"/>
            </a:avLst>
          </a:prstGeom>
          <a:solidFill>
            <a:srgbClr val="F1F6F8"/>
          </a:solidFill>
          <a:ln/>
          <a:effectLst>
            <a:outerShdw blurRad="101600" dist="38100" dir="2700000" algn="bl" rotWithShape="0">
              <a:srgbClr val="000000">
                <a:alpha val="12000"/>
              </a:srgbClr>
            </a:outerShdw>
          </a:effectLst>
        </p:spPr>
      </p:sp>
      <p:sp>
        <p:nvSpPr>
          <p:cNvPr id="15" name="Text 13"/>
          <p:cNvSpPr/>
          <p:nvPr/>
        </p:nvSpPr>
        <p:spPr>
          <a:xfrm>
            <a:off x="4434840" y="3063240"/>
            <a:ext cx="2926080" cy="310896"/>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≈$13.0–13.5</a:t>
            </a:r>
            <a:endParaRPr lang="en-US" sz="1800" dirty="0"/>
          </a:p>
        </p:txBody>
      </p:sp>
      <p:sp>
        <p:nvSpPr>
          <p:cNvPr id="16" name="Text 14"/>
          <p:cNvSpPr/>
          <p:nvPr/>
        </p:nvSpPr>
        <p:spPr>
          <a:xfrm>
            <a:off x="4434840" y="3374136"/>
            <a:ext cx="2926080" cy="393192"/>
          </a:xfrm>
          <a:prstGeom prst="rect">
            <a:avLst/>
          </a:prstGeom>
          <a:noFill/>
          <a:ln/>
        </p:spPr>
        <p:txBody>
          <a:bodyPr wrap="square" lIns="0" tIns="0" rIns="0" bIns="0" rtlCol="0" anchor="t"/>
          <a:lstStyle/>
          <a:p>
            <a:pPr marL="0" indent="0">
              <a:lnSpc>
                <a:spcPct val="108000"/>
              </a:lnSpc>
              <a:buNone/>
            </a:pPr>
            <a:r>
              <a:rPr lang="en-US" sz="860" dirty="0">
                <a:solidFill>
                  <a:srgbClr val="1C2B3A"/>
                </a:solidFill>
                <a:latin typeface="Calibri" pitchFamily="34" charset="0"/>
                <a:ea typeface="Calibri" pitchFamily="34" charset="-122"/>
                <a:cs typeface="Calibri" pitchFamily="34" charset="-120"/>
              </a:rPr>
              <a:t>Asia netback, $/MMBtu, late June 2026 (dated spot snapshot)</a:t>
            </a:r>
            <a:endParaRPr lang="en-US" sz="860" dirty="0"/>
          </a:p>
        </p:txBody>
      </p:sp>
      <p:sp>
        <p:nvSpPr>
          <p:cNvPr id="17" name="Shape 15"/>
          <p:cNvSpPr/>
          <p:nvPr/>
        </p:nvSpPr>
        <p:spPr>
          <a:xfrm>
            <a:off x="7726680" y="2971800"/>
            <a:ext cx="3794760" cy="868680"/>
          </a:xfrm>
          <a:prstGeom prst="roundRect">
            <a:avLst>
              <a:gd name="adj" fmla="val 8421"/>
            </a:avLst>
          </a:prstGeom>
          <a:solidFill>
            <a:srgbClr val="F1F6F8"/>
          </a:solidFill>
          <a:ln/>
          <a:effectLst>
            <a:outerShdw blurRad="101600" dist="38100" dir="2700000" algn="bl" rotWithShape="0">
              <a:srgbClr val="000000">
                <a:alpha val="12000"/>
              </a:srgbClr>
            </a:outerShdw>
          </a:effectLst>
        </p:spPr>
      </p:sp>
      <p:sp>
        <p:nvSpPr>
          <p:cNvPr id="18" name="Text 16"/>
          <p:cNvSpPr/>
          <p:nvPr/>
        </p:nvSpPr>
        <p:spPr>
          <a:xfrm>
            <a:off x="7955280" y="3063240"/>
            <a:ext cx="3337560" cy="310896"/>
          </a:xfrm>
          <a:prstGeom prst="rect">
            <a:avLst/>
          </a:prstGeom>
          <a:noFill/>
          <a:ln/>
        </p:spPr>
        <p:txBody>
          <a:bodyPr wrap="square" lIns="0" tIns="0" rIns="0" bIns="0"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$0.7–1.0 / $1.9–2.4</a:t>
            </a:r>
            <a:endParaRPr lang="en-US" sz="1500" dirty="0"/>
          </a:p>
        </p:txBody>
      </p:sp>
      <p:sp>
        <p:nvSpPr>
          <p:cNvPr id="19" name="Text 17"/>
          <p:cNvSpPr/>
          <p:nvPr/>
        </p:nvSpPr>
        <p:spPr>
          <a:xfrm>
            <a:off x="7955280" y="3374136"/>
            <a:ext cx="3337560" cy="393192"/>
          </a:xfrm>
          <a:prstGeom prst="rect">
            <a:avLst/>
          </a:prstGeom>
          <a:noFill/>
          <a:ln/>
        </p:spPr>
        <p:txBody>
          <a:bodyPr wrap="square" lIns="0" tIns="0" rIns="0" bIns="0" rtlCol="0" anchor="t"/>
          <a:lstStyle/>
          <a:p>
            <a:pPr marL="0" indent="0">
              <a:lnSpc>
                <a:spcPct val="108000"/>
              </a:lnSpc>
              <a:buNone/>
            </a:pPr>
            <a:r>
              <a:rPr lang="en-US" sz="860" dirty="0">
                <a:solidFill>
                  <a:srgbClr val="1C2B3A"/>
                </a:solidFill>
                <a:latin typeface="Calibri" pitchFamily="34" charset="0"/>
                <a:ea typeface="Calibri" pitchFamily="34" charset="-122"/>
                <a:cs typeface="Calibri" pitchFamily="34" charset="-120"/>
              </a:rPr>
              <a:t>Illustrative freight to NWE (~12 days) vs North Asia via Cape (~28 days), $/MMBtu</a:t>
            </a:r>
            <a:endParaRPr lang="en-US" sz="860" dirty="0"/>
          </a:p>
        </p:txBody>
      </p:sp>
      <p:sp>
        <p:nvSpPr>
          <p:cNvPr id="20" name="Text 18"/>
          <p:cNvSpPr/>
          <p:nvPr/>
        </p:nvSpPr>
        <p:spPr>
          <a:xfrm>
            <a:off x="685800" y="3977640"/>
            <a:ext cx="10835640" cy="411480"/>
          </a:xfrm>
          <a:prstGeom prst="rect">
            <a:avLst/>
          </a:prstGeom>
          <a:noFill/>
          <a:ln/>
        </p:spPr>
        <p:txBody>
          <a:bodyPr wrap="square" lIns="0" tIns="0" rIns="0" bIns="0" rtlCol="0" anchor="t"/>
          <a:lstStyle/>
          <a:p>
            <a:pPr marL="0" indent="0">
              <a:lnSpc>
                <a:spcPct val="115000"/>
              </a:lnSpc>
              <a:buNone/>
            </a:pPr>
            <a:r>
              <a:rPr lang="en-US" sz="1050" i="1" dirty="0">
                <a:solidFill>
                  <a:srgbClr val="5C7080"/>
                </a:solidFill>
                <a:latin typeface="Calibri" pitchFamily="34" charset="0"/>
                <a:ea typeface="Calibri" pitchFamily="34" charset="-122"/>
                <a:cs typeface="Calibri" pitchFamily="34" charset="-120"/>
              </a:rPr>
              <a:t>On June monthly-average prices (TTF 13.19, JKM 17.33) the eastward pull was unambiguous, consistent with observed June flows.</a:t>
            </a:r>
            <a:endParaRPr lang="en-US" sz="1050" dirty="0"/>
          </a:p>
        </p:txBody>
      </p:sp>
      <p:sp>
        <p:nvSpPr>
          <p:cNvPr id="21" name="Text 19"/>
          <p:cNvSpPr/>
          <p:nvPr/>
        </p:nvSpPr>
        <p:spPr>
          <a:xfrm>
            <a:off x="685800" y="425196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DECISION RULES</a:t>
            </a:r>
            <a:endParaRPr lang="en-US" sz="1200" dirty="0"/>
          </a:p>
        </p:txBody>
      </p:sp>
      <p:sp>
        <p:nvSpPr>
          <p:cNvPr id="22" name="Text 20"/>
          <p:cNvSpPr/>
          <p:nvPr/>
        </p:nvSpPr>
        <p:spPr>
          <a:xfrm>
            <a:off x="640080" y="4526280"/>
            <a:ext cx="10789920" cy="1170431"/>
          </a:xfrm>
          <a:prstGeom prst="rect">
            <a:avLst/>
          </a:prstGeom>
          <a:noFill/>
          <a:ln/>
        </p:spPr>
        <p:txBody>
          <a:bodyPr wrap="square" lIns="0" tIns="0" rIns="0" bIns="0" rtlCol="0" anchor="t"/>
          <a:lstStyle/>
          <a:p>
            <a:pPr marL="177800" indent="-177800">
              <a:lnSpc>
                <a:spcPct val="115000"/>
              </a:lnSpc>
              <a:buSzPct val="100000"/>
              <a:buChar char="●"/>
            </a:pPr>
            <a:r>
              <a:rPr lang="en-US" sz="1000" b="1" dirty="0">
                <a:solidFill>
                  <a:srgbClr val="065A82"/>
                </a:solidFill>
                <a:latin typeface="Calibri" pitchFamily="34" charset="0"/>
                <a:ea typeface="Calibri" pitchFamily="34" charset="-122"/>
                <a:cs typeface="Calibri" pitchFamily="34" charset="-120"/>
              </a:rPr>
              <a:t>Decision rule — </a:t>
            </a:r>
            <a:r>
              <a:rPr lang="en-US" sz="1000" dirty="0">
                <a:solidFill>
                  <a:srgbClr val="1C2B3A"/>
                </a:solidFill>
                <a:latin typeface="Calibri" pitchFamily="34" charset="0"/>
                <a:ea typeface="Calibri" pitchFamily="34" charset="-122"/>
                <a:cs typeface="Calibri" pitchFamily="34" charset="-120"/>
              </a:rPr>
              <a:t>lift to the higher netback; the JKM premium must cover the extra voyage cost, exactly what the post-crisis ~$2.8 spread did</a:t>
            </a:r>
            <a:endParaRPr lang="en-US" sz="1000" dirty="0"/>
          </a:p>
          <a:p>
            <a:pPr marL="177800" indent="-177800">
              <a:lnSpc>
                <a:spcPct val="115000"/>
              </a:lnSpc>
              <a:buSzPct val="100000"/>
              <a:buChar char="●"/>
            </a:pPr>
            <a:r>
              <a:rPr lang="en-US" sz="1000" b="1" dirty="0">
                <a:solidFill>
                  <a:srgbClr val="065A82"/>
                </a:solidFill>
                <a:latin typeface="Calibri" pitchFamily="34" charset="0"/>
                <a:ea typeface="Calibri" pitchFamily="34" charset="-122"/>
                <a:cs typeface="Calibri" pitchFamily="34" charset="-120"/>
              </a:rPr>
              <a:t>Beyond Europe vs Asia — </a:t>
            </a:r>
            <a:r>
              <a:rPr lang="en-US" sz="1000" dirty="0">
                <a:solidFill>
                  <a:srgbClr val="1C2B3A"/>
                </a:solidFill>
                <a:latin typeface="Calibri" pitchFamily="34" charset="0"/>
                <a:ea typeface="Calibri" pitchFamily="34" charset="-122"/>
                <a:cs typeface="Calibri" pitchFamily="34" charset="-120"/>
              </a:rPr>
              <a:t>the commercial decision is the highest netback across all feasible destinations: Egypt/North Africa, the Middle East and Latin America can clear above the European netback (June 2026: record Egyptian purchases of US LNG at premiums up to $1/MMBtu over TTF-linked prices)</a:t>
            </a:r>
            <a:endParaRPr lang="en-US" sz="1000" dirty="0"/>
          </a:p>
          <a:p>
            <a:pPr marL="177800" indent="-177800">
              <a:lnSpc>
                <a:spcPct val="115000"/>
              </a:lnSpc>
              <a:buSzPct val="100000"/>
              <a:buChar char="●"/>
            </a:pPr>
            <a:r>
              <a:rPr lang="en-US" sz="1000" b="1" dirty="0">
                <a:solidFill>
                  <a:srgbClr val="065A82"/>
                </a:solidFill>
                <a:latin typeface="Calibri" pitchFamily="34" charset="0"/>
                <a:ea typeface="Calibri" pitchFamily="34" charset="-122"/>
                <a:cs typeface="Calibri" pitchFamily="34" charset="-120"/>
              </a:rPr>
              <a:t>Cancellation rule — </a:t>
            </a:r>
            <a:r>
              <a:rPr lang="en-US" sz="1000" dirty="0">
                <a:solidFill>
                  <a:srgbClr val="1C2B3A"/>
                </a:solidFill>
                <a:latin typeface="Calibri" pitchFamily="34" charset="0"/>
                <a:ea typeface="Calibri" pitchFamily="34" charset="-122"/>
                <a:cs typeface="Calibri" pitchFamily="34" charset="-120"/>
              </a:rPr>
              <a:t>if best netback is below the avoidable short-run US lifting cost, test turndown/cancellation rights; the fixed toll may be sunk, so the relevant floor is variable feedgas, liquefaction/fuel and shipping costs</a:t>
            </a:r>
            <a:endParaRPr lang="en-US" sz="1000" dirty="0"/>
          </a:p>
          <a:p>
            <a:pPr marL="177800" indent="-177800">
              <a:lnSpc>
                <a:spcPct val="115000"/>
              </a:lnSpc>
              <a:buSzPct val="100000"/>
              <a:buChar char="●"/>
            </a:pPr>
            <a:r>
              <a:rPr lang="en-US" sz="1000" b="1" dirty="0">
                <a:solidFill>
                  <a:srgbClr val="065A82"/>
                </a:solidFill>
                <a:latin typeface="Calibri" pitchFamily="34" charset="0"/>
                <a:ea typeface="Calibri" pitchFamily="34" charset="-122"/>
                <a:cs typeface="Calibri" pitchFamily="34" charset="-120"/>
              </a:rPr>
              <a:t>Second-order terms — </a:t>
            </a:r>
            <a:r>
              <a:rPr lang="en-US" sz="1000" dirty="0">
                <a:solidFill>
                  <a:srgbClr val="1C2B3A"/>
                </a:solidFill>
                <a:latin typeface="Calibri" pitchFamily="34" charset="0"/>
                <a:ea typeface="Calibri" pitchFamily="34" charset="-122"/>
                <a:cs typeface="Calibri" pitchFamily="34" charset="-120"/>
              </a:rPr>
              <a:t>Panama waiting time, charter market when extending voyages, working capital and hedge roll</a:t>
            </a:r>
            <a:endParaRPr lang="en-US" sz="1000" dirty="0"/>
          </a:p>
        </p:txBody>
      </p:sp>
      <p:sp>
        <p:nvSpPr>
          <p:cNvPr id="23" name="Text 21"/>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Q5 of 12   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OPTIONALITY</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Destination flexibility and diversion optionality</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WHAT THE OPTION IS</a:t>
            </a:r>
            <a:endParaRPr lang="en-US" sz="1200" dirty="0"/>
          </a:p>
        </p:txBody>
      </p:sp>
      <p:sp>
        <p:nvSpPr>
          <p:cNvPr id="8" name="Text 6"/>
          <p:cNvSpPr/>
          <p:nvPr/>
        </p:nvSpPr>
        <p:spPr>
          <a:xfrm>
            <a:off x="685800" y="1920240"/>
            <a:ext cx="5257800" cy="40233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 FOB cargo with shipping is an option on the best of several basin netbacks: max(JKM − freight A, TTF − freight E, local sale)</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Value drivers: JKM–TTF spread volatility, imperfect correlation between hubs, freight volatility, and contractual freedom (destination clauses, notice windows)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High hub correlation kills the value; regime breaks (2022, 2026) restore it violently</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Turndown rights on US offtake are a put struck at avoidable variable cost; value alongside diversion rights</a:t>
            </a:r>
            <a:endParaRPr lang="en-US" sz="1250" dirty="0"/>
          </a:p>
        </p:txBody>
      </p:sp>
      <p:sp>
        <p:nvSpPr>
          <p:cNvPr id="9" name="Text 7"/>
          <p:cNvSpPr/>
          <p:nvPr/>
        </p:nvSpPr>
        <p:spPr>
          <a:xfrm>
            <a:off x="626364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HOW TO VALUE IT</a:t>
            </a:r>
            <a:endParaRPr lang="en-US" sz="1200" dirty="0"/>
          </a:p>
        </p:txBody>
      </p:sp>
      <p:sp>
        <p:nvSpPr>
          <p:cNvPr id="10" name="Text 8"/>
          <p:cNvSpPr/>
          <p:nvPr/>
        </p:nvSpPr>
        <p:spPr>
          <a:xfrm>
            <a:off x="6263640" y="1920240"/>
            <a:ext cx="5212080" cy="40233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Spread-option pricing (Margrabe/Kirk) for two-basin snapshots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Correlated Monte Carlo of TTF, JKM and freight curves with exercise windows and notice constraints for the portfolio</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Least-squares Monte Carlo where decisions are sequential (divert now vs keep the option alive)</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Arbitrage windows can close quickly — the March 2026 window shut within roughly two weeks as the spread renormalised; exercise windows, notice constraints and freight–spread correlation belong in the valuation, since freight tends to firm when the arb opens, dampening realised diversion margin</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Backtest: realised diversion P&amp;L is the ultimate calibration of modelled option value</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Portfolio effect: flexibility is worth more inside a book holding shipping, regas and storage than standalone</a:t>
            </a:r>
            <a:endParaRPr lang="en-US" sz="1250" dirty="0"/>
          </a:p>
        </p:txBody>
      </p:sp>
      <p:sp>
        <p:nvSpPr>
          <p:cNvPr id="11" name="Text 9"/>
          <p:cNvSpPr/>
          <p:nvPr/>
        </p:nvSpPr>
        <p:spPr>
          <a:xfrm>
            <a:off x="685800" y="6035040"/>
            <a:ext cx="10835640" cy="640080"/>
          </a:xfrm>
          <a:prstGeom prst="rect">
            <a:avLst/>
          </a:prstGeom>
          <a:noFill/>
          <a:ln/>
        </p:spPr>
        <p:txBody>
          <a:bodyPr wrap="square" lIns="0" tIns="0" rIns="0" bIns="0" rtlCol="0" anchor="t"/>
          <a:lstStyle/>
          <a:p>
            <a:pPr marL="0" indent="0">
              <a:lnSpc>
                <a:spcPct val="115000"/>
              </a:lnSpc>
              <a:buNone/>
            </a:pPr>
            <a:r>
              <a:rPr lang="en-US" sz="1150" i="1" dirty="0">
                <a:solidFill>
                  <a:srgbClr val="5C7080"/>
                </a:solidFill>
                <a:latin typeface="Calibri" pitchFamily="34" charset="0"/>
                <a:ea typeface="Calibri" pitchFamily="34" charset="-122"/>
                <a:cs typeface="Calibri" pitchFamily="34" charset="-120"/>
              </a:rPr>
              <a:t>Asian premium +$2.8/MMBtu over TTF (Mar 2026): the diversion option paying out — flexible cargoes swung east within weeks (IEA).</a:t>
            </a:r>
            <a:endParaRPr lang="en-US" sz="1150" dirty="0"/>
          </a:p>
        </p:txBody>
      </p:sp>
      <p:sp>
        <p:nvSpPr>
          <p:cNvPr id="12" name="Text 10"/>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Q6 of 12   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VALUATION ASSUMPTIONS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Key assumptions in LNG portfolio valuation (1 of 2)</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828800"/>
            <a:ext cx="365760" cy="365760"/>
          </a:xfrm>
          <a:prstGeom prst="ellipse">
            <a:avLst/>
          </a:prstGeom>
          <a:solidFill>
            <a:srgbClr val="065A82"/>
          </a:solidFill>
          <a:ln/>
        </p:spPr>
      </p:sp>
      <p:sp>
        <p:nvSpPr>
          <p:cNvPr id="8" name="Text 6"/>
          <p:cNvSpPr/>
          <p:nvPr/>
        </p:nvSpPr>
        <p:spPr>
          <a:xfrm>
            <a:off x="685800"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88720" y="1783080"/>
            <a:ext cx="10332720" cy="96012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Flat price and spread deck</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The biggest driver is the long-run relationship between TTF, JKM, Henry Hub, Brent-linked formulas and freight. Key spreads are JKM-TTF, TTF minus US LNG variable cost, and JKM minus US LNG variable cost.</a:t>
            </a:r>
            <a:endParaRPr lang="en-US" sz="1080" dirty="0"/>
          </a:p>
        </p:txBody>
      </p:sp>
      <p:sp>
        <p:nvSpPr>
          <p:cNvPr id="10" name="Shape 8"/>
          <p:cNvSpPr/>
          <p:nvPr/>
        </p:nvSpPr>
        <p:spPr>
          <a:xfrm>
            <a:off x="685800" y="2880360"/>
            <a:ext cx="365760" cy="365760"/>
          </a:xfrm>
          <a:prstGeom prst="ellipse">
            <a:avLst/>
          </a:prstGeom>
          <a:solidFill>
            <a:srgbClr val="065A82"/>
          </a:solidFill>
          <a:ln/>
        </p:spPr>
      </p:sp>
      <p:sp>
        <p:nvSpPr>
          <p:cNvPr id="11" name="Text 9"/>
          <p:cNvSpPr/>
          <p:nvPr/>
        </p:nvSpPr>
        <p:spPr>
          <a:xfrm>
            <a:off x="6858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188720" y="2834640"/>
            <a:ext cx="10332720" cy="96012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Demand elasticity and market absorption</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The same LNG supply wave has very different price impact depending on whether Asian demand responds quickly to lower prices. Infrastructure-, credit- or policy-constrained demand makes a supply wave depress prices more severely.</a:t>
            </a:r>
            <a:endParaRPr lang="en-US" sz="1080" dirty="0"/>
          </a:p>
        </p:txBody>
      </p:sp>
      <p:sp>
        <p:nvSpPr>
          <p:cNvPr id="13" name="Shape 11"/>
          <p:cNvSpPr/>
          <p:nvPr/>
        </p:nvSpPr>
        <p:spPr>
          <a:xfrm>
            <a:off x="685800" y="3931920"/>
            <a:ext cx="365760" cy="365760"/>
          </a:xfrm>
          <a:prstGeom prst="ellipse">
            <a:avLst/>
          </a:prstGeom>
          <a:solidFill>
            <a:srgbClr val="065A82"/>
          </a:solidFill>
          <a:ln/>
        </p:spPr>
      </p:sp>
      <p:sp>
        <p:nvSpPr>
          <p:cNvPr id="14" name="Text 12"/>
          <p:cNvSpPr/>
          <p:nvPr/>
        </p:nvSpPr>
        <p:spPr>
          <a:xfrm>
            <a:off x="685800" y="39319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188720" y="3886200"/>
            <a:ext cx="10332720" cy="96012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Supply-wave timing and availability</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Start-up dates, ramp-up curves, feedgas constraints, maintenance and outages can reshape the curve. A six-month delay can keep the market tight; an early ramp can push Europe into surplus.</a:t>
            </a:r>
            <a:endParaRPr lang="en-US" sz="1080" dirty="0"/>
          </a:p>
        </p:txBody>
      </p:sp>
      <p:sp>
        <p:nvSpPr>
          <p:cNvPr id="16" name="Shape 14"/>
          <p:cNvSpPr/>
          <p:nvPr/>
        </p:nvSpPr>
        <p:spPr>
          <a:xfrm>
            <a:off x="685800" y="4983480"/>
            <a:ext cx="365760" cy="365760"/>
          </a:xfrm>
          <a:prstGeom prst="ellipse">
            <a:avLst/>
          </a:prstGeom>
          <a:solidFill>
            <a:srgbClr val="065A82"/>
          </a:solidFill>
          <a:ln/>
        </p:spPr>
      </p:sp>
      <p:sp>
        <p:nvSpPr>
          <p:cNvPr id="17" name="Text 15"/>
          <p:cNvSpPr/>
          <p:nvPr/>
        </p:nvSpPr>
        <p:spPr>
          <a:xfrm>
            <a:off x="685800" y="49834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1188720" y="4937760"/>
            <a:ext cx="10332720" cy="96012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Volatility and TTF-JKM correlation</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These drive the value of destination flexibility, diversion rights, regas slots, storage and US turndown rights. Regime breaks such as 2022 and 2026 can make the optionality pay out sharply.</a:t>
            </a:r>
            <a:endParaRPr lang="en-US" sz="1080" dirty="0"/>
          </a:p>
        </p:txBody>
      </p:sp>
      <p:sp>
        <p:nvSpPr>
          <p:cNvPr id="19" name="Text 17"/>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Q7 of 12   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VALUATION ASSUMPTIONS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Key assumptions in LNG portfolio valuation (2 of 2)</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691640"/>
            <a:ext cx="365760" cy="365760"/>
          </a:xfrm>
          <a:prstGeom prst="ellipse">
            <a:avLst/>
          </a:prstGeom>
          <a:solidFill>
            <a:srgbClr val="065A82"/>
          </a:solidFill>
          <a:ln/>
        </p:spPr>
      </p:sp>
      <p:sp>
        <p:nvSpPr>
          <p:cNvPr id="8" name="Text 6"/>
          <p:cNvSpPr/>
          <p:nvPr/>
        </p:nvSpPr>
        <p:spPr>
          <a:xfrm>
            <a:off x="685800" y="1691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9" name="Text 7"/>
          <p:cNvSpPr/>
          <p:nvPr/>
        </p:nvSpPr>
        <p:spPr>
          <a:xfrm>
            <a:off x="1188720" y="1645920"/>
            <a:ext cx="10332720" cy="86868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Freight and vessel availability</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Freight converts a theoretical spread into an executable arbitrage: the signal is JKM minus TTF minus incremental freight, canal costs, voyage time, boil-off and operational penalties.</a:t>
            </a:r>
            <a:endParaRPr lang="en-US" sz="1080" dirty="0"/>
          </a:p>
        </p:txBody>
      </p:sp>
      <p:sp>
        <p:nvSpPr>
          <p:cNvPr id="10" name="Shape 8"/>
          <p:cNvSpPr/>
          <p:nvPr/>
        </p:nvSpPr>
        <p:spPr>
          <a:xfrm>
            <a:off x="685800" y="2606040"/>
            <a:ext cx="365760" cy="365760"/>
          </a:xfrm>
          <a:prstGeom prst="ellipse">
            <a:avLst/>
          </a:prstGeom>
          <a:solidFill>
            <a:srgbClr val="065A82"/>
          </a:solidFill>
          <a:ln/>
        </p:spPr>
      </p:sp>
      <p:sp>
        <p:nvSpPr>
          <p:cNvPr id="11" name="Text 9"/>
          <p:cNvSpPr/>
          <p:nvPr/>
        </p:nvSpPr>
        <p:spPr>
          <a:xfrm>
            <a:off x="685800" y="2606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2" name="Text 10"/>
          <p:cNvSpPr/>
          <p:nvPr/>
        </p:nvSpPr>
        <p:spPr>
          <a:xfrm>
            <a:off x="1188720" y="2560320"/>
            <a:ext cx="10332720" cy="86868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Regas, storage and terminal access</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European LNG length only has value if it can be landed, stored, reloaded or sent out. Firm regas rights, berth windows, tank capacity and local hub basis can make two similar portfolios worth very different amounts.</a:t>
            </a:r>
            <a:endParaRPr lang="en-US" sz="1080" dirty="0"/>
          </a:p>
        </p:txBody>
      </p:sp>
      <p:sp>
        <p:nvSpPr>
          <p:cNvPr id="13" name="Shape 11"/>
          <p:cNvSpPr/>
          <p:nvPr/>
        </p:nvSpPr>
        <p:spPr>
          <a:xfrm>
            <a:off x="685800" y="3520440"/>
            <a:ext cx="365760" cy="365760"/>
          </a:xfrm>
          <a:prstGeom prst="ellipse">
            <a:avLst/>
          </a:prstGeom>
          <a:solidFill>
            <a:srgbClr val="065A82"/>
          </a:solidFill>
          <a:ln/>
        </p:spPr>
      </p:sp>
      <p:sp>
        <p:nvSpPr>
          <p:cNvPr id="14" name="Text 12"/>
          <p:cNvSpPr/>
          <p:nvPr/>
        </p:nvSpPr>
        <p:spPr>
          <a:xfrm>
            <a:off x="685800" y="3520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15" name="Text 13"/>
          <p:cNvSpPr/>
          <p:nvPr/>
        </p:nvSpPr>
        <p:spPr>
          <a:xfrm>
            <a:off x="1188720" y="3474720"/>
            <a:ext cx="10332720" cy="86868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Contractual, credit and performance assumptions</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Destination clauses, cargo cancellation or turndown rights, delivery-window flexibility, quantity tolerance under multi-cargo SPAs where applicable, force majeure, start-up delay, counterparty performance, collateral and PFE can dominate the valuation.</a:t>
            </a:r>
            <a:endParaRPr lang="en-US" sz="1080" dirty="0"/>
          </a:p>
        </p:txBody>
      </p:sp>
      <p:sp>
        <p:nvSpPr>
          <p:cNvPr id="16" name="Shape 14"/>
          <p:cNvSpPr/>
          <p:nvPr/>
        </p:nvSpPr>
        <p:spPr>
          <a:xfrm>
            <a:off x="685800" y="4434840"/>
            <a:ext cx="365760" cy="365760"/>
          </a:xfrm>
          <a:prstGeom prst="ellipse">
            <a:avLst/>
          </a:prstGeom>
          <a:solidFill>
            <a:srgbClr val="065A82"/>
          </a:solidFill>
          <a:ln/>
        </p:spPr>
      </p:sp>
      <p:sp>
        <p:nvSpPr>
          <p:cNvPr id="17" name="Text 15"/>
          <p:cNvSpPr/>
          <p:nvPr/>
        </p:nvSpPr>
        <p:spPr>
          <a:xfrm>
            <a:off x="685800" y="44348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18" name="Text 16"/>
          <p:cNvSpPr/>
          <p:nvPr/>
        </p:nvSpPr>
        <p:spPr>
          <a:xfrm>
            <a:off x="1188720" y="4389120"/>
            <a:ext cx="10332720" cy="868680"/>
          </a:xfrm>
          <a:prstGeom prst="rect">
            <a:avLst/>
          </a:prstGeom>
          <a:noFill/>
          <a:ln/>
        </p:spPr>
        <p:txBody>
          <a:bodyPr wrap="square" lIns="0" tIns="0" rIns="0" bIns="0" rtlCol="0" anchor="t"/>
          <a:lstStyle/>
          <a:p>
            <a:pPr marL="0" indent="0">
              <a:lnSpc>
                <a:spcPct val="110000"/>
              </a:lnSpc>
              <a:buNone/>
            </a:pPr>
            <a:r>
              <a:rPr lang="en-US" sz="1080" b="1" dirty="0">
                <a:solidFill>
                  <a:srgbClr val="065A82"/>
                </a:solidFill>
                <a:latin typeface="Calibri" pitchFamily="34" charset="0"/>
                <a:ea typeface="Calibri" pitchFamily="34" charset="-122"/>
                <a:cs typeface="Calibri" pitchFamily="34" charset="-120"/>
              </a:rPr>
              <a:t>Financial assumptions</a:t>
            </a:r>
            <a:endParaRPr lang="en-US" sz="1080" dirty="0"/>
          </a:p>
          <a:p>
            <a:pPr marL="0" indent="0">
              <a:lnSpc>
                <a:spcPct val="110000"/>
              </a:lnSpc>
              <a:buNone/>
            </a:pPr>
            <a:r>
              <a:rPr lang="en-US" sz="1080" dirty="0">
                <a:solidFill>
                  <a:srgbClr val="1C2B3A"/>
                </a:solidFill>
                <a:latin typeface="Calibri" pitchFamily="34" charset="0"/>
                <a:ea typeface="Calibri" pitchFamily="34" charset="-122"/>
                <a:cs typeface="Calibri" pitchFamily="34" charset="-120"/>
              </a:rPr>
              <a:t>  Discount rate, FX, inflation indexation, liquidity reserves, margining and funding costs matter especially for long-dated SPAs, tolling arrangements and infrastructure-linked deals.</a:t>
            </a:r>
            <a:endParaRPr lang="en-US" sz="1080" dirty="0"/>
          </a:p>
        </p:txBody>
      </p:sp>
      <p:sp>
        <p:nvSpPr>
          <p:cNvPr id="19" name="Shape 17"/>
          <p:cNvSpPr/>
          <p:nvPr/>
        </p:nvSpPr>
        <p:spPr>
          <a:xfrm>
            <a:off x="685800" y="5394960"/>
            <a:ext cx="5257800" cy="868680"/>
          </a:xfrm>
          <a:prstGeom prst="roundRect">
            <a:avLst>
              <a:gd name="adj" fmla="val 8421"/>
            </a:avLst>
          </a:prstGeom>
          <a:solidFill>
            <a:srgbClr val="F1F6F8"/>
          </a:solidFill>
          <a:ln/>
          <a:effectLst>
            <a:outerShdw blurRad="101600" dist="38100" dir="2700000" algn="bl" rotWithShape="0">
              <a:srgbClr val="000000">
                <a:alpha val="12000"/>
              </a:srgbClr>
            </a:outerShdw>
          </a:effectLst>
        </p:spPr>
      </p:sp>
      <p:sp>
        <p:nvSpPr>
          <p:cNvPr id="20" name="Text 18"/>
          <p:cNvSpPr/>
          <p:nvPr/>
        </p:nvSpPr>
        <p:spPr>
          <a:xfrm>
            <a:off x="914400" y="5486400"/>
            <a:ext cx="4800600" cy="310896"/>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3.8% → 2.2%</a:t>
            </a:r>
            <a:endParaRPr lang="en-US" sz="1800" dirty="0"/>
          </a:p>
        </p:txBody>
      </p:sp>
      <p:sp>
        <p:nvSpPr>
          <p:cNvPr id="21" name="Text 19"/>
          <p:cNvSpPr/>
          <p:nvPr/>
        </p:nvSpPr>
        <p:spPr>
          <a:xfrm>
            <a:off x="914400" y="5797296"/>
            <a:ext cx="4800600" cy="393192"/>
          </a:xfrm>
          <a:prstGeom prst="rect">
            <a:avLst/>
          </a:prstGeom>
          <a:noFill/>
          <a:ln/>
        </p:spPr>
        <p:txBody>
          <a:bodyPr wrap="square" lIns="0" tIns="0" rIns="0" bIns="0" rtlCol="0" anchor="t"/>
          <a:lstStyle/>
          <a:p>
            <a:pPr marL="0" indent="0">
              <a:lnSpc>
                <a:spcPct val="108000"/>
              </a:lnSpc>
              <a:buNone/>
            </a:pPr>
            <a:r>
              <a:rPr lang="en-US" sz="920" dirty="0">
                <a:solidFill>
                  <a:srgbClr val="1C2B3A"/>
                </a:solidFill>
                <a:latin typeface="Calibri" pitchFamily="34" charset="0"/>
                <a:ea typeface="Calibri" pitchFamily="34" charset="-122"/>
                <a:cs typeface="Calibri" pitchFamily="34" charset="-120"/>
              </a:rPr>
              <a:t>One LSEG outlook comparison cut global LNG import CAGR by c.40% (Jun-24 vs Apr-25 vintages). The risk is the demand-growth assumption, not the valuation formula.</a:t>
            </a:r>
            <a:endParaRPr lang="en-US" sz="920" dirty="0"/>
          </a:p>
        </p:txBody>
      </p:sp>
      <p:sp>
        <p:nvSpPr>
          <p:cNvPr id="22" name="Shape 20"/>
          <p:cNvSpPr/>
          <p:nvPr/>
        </p:nvSpPr>
        <p:spPr>
          <a:xfrm>
            <a:off x="6263640" y="5394960"/>
            <a:ext cx="5257800" cy="868680"/>
          </a:xfrm>
          <a:prstGeom prst="roundRect">
            <a:avLst>
              <a:gd name="adj" fmla="val 8421"/>
            </a:avLst>
          </a:prstGeom>
          <a:solidFill>
            <a:srgbClr val="F1F6F8"/>
          </a:solidFill>
          <a:ln/>
          <a:effectLst>
            <a:outerShdw blurRad="101600" dist="38100" dir="2700000" algn="bl" rotWithShape="0">
              <a:srgbClr val="000000">
                <a:alpha val="12000"/>
              </a:srgbClr>
            </a:outerShdw>
          </a:effectLst>
        </p:spPr>
      </p:sp>
      <p:sp>
        <p:nvSpPr>
          <p:cNvPr id="23" name="Text 21"/>
          <p:cNvSpPr/>
          <p:nvPr/>
        </p:nvSpPr>
        <p:spPr>
          <a:xfrm>
            <a:off x="6492240" y="5486400"/>
            <a:ext cx="4800600" cy="310896"/>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Supply shock sensitivity</a:t>
            </a:r>
            <a:endParaRPr lang="en-US" sz="1300" dirty="0"/>
          </a:p>
        </p:txBody>
      </p:sp>
      <p:sp>
        <p:nvSpPr>
          <p:cNvPr id="24" name="Text 22"/>
          <p:cNvSpPr/>
          <p:nvPr/>
        </p:nvSpPr>
        <p:spPr>
          <a:xfrm>
            <a:off x="6492240" y="5797296"/>
            <a:ext cx="4800600" cy="393192"/>
          </a:xfrm>
          <a:prstGeom prst="rect">
            <a:avLst/>
          </a:prstGeom>
          <a:noFill/>
          <a:ln/>
        </p:spPr>
        <p:txBody>
          <a:bodyPr wrap="square" lIns="0" tIns="0" rIns="0" bIns="0" rtlCol="0" anchor="t"/>
          <a:lstStyle/>
          <a:p>
            <a:pPr marL="0" indent="0">
              <a:lnSpc>
                <a:spcPct val="108000"/>
              </a:lnSpc>
              <a:buNone/>
            </a:pPr>
            <a:r>
              <a:rPr lang="en-US" sz="920" dirty="0">
                <a:solidFill>
                  <a:srgbClr val="1C2B3A"/>
                </a:solidFill>
                <a:latin typeface="Calibri" pitchFamily="34" charset="0"/>
                <a:ea typeface="Calibri" pitchFamily="34" charset="-122"/>
                <a:cs typeface="Calibri" pitchFamily="34" charset="-120"/>
              </a:rPr>
              <a:t>Shell's 2026 global export-growth outlook swings materially between a pre-crisis baseline and a prolonged Strait of Hormuz disruption case.</a:t>
            </a:r>
            <a:endParaRPr lang="en-US" sz="920" dirty="0"/>
          </a:p>
        </p:txBody>
      </p:sp>
      <p:sp>
        <p:nvSpPr>
          <p:cNvPr id="25" name="Text 23"/>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Q7 of 12   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SHIPPING ECONOMICS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Freight is a netback input, not a constant</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600200"/>
            <a:ext cx="10835640" cy="914400"/>
          </a:xfrm>
          <a:prstGeom prst="roundRect">
            <a:avLst>
              <a:gd name="adj" fmla="val 7000"/>
            </a:avLst>
          </a:prstGeom>
          <a:solidFill>
            <a:srgbClr val="F1F6F8"/>
          </a:solidFill>
          <a:ln/>
          <a:effectLst>
            <a:outerShdw blurRad="101600" dist="38100" dir="2700000" algn="bl" rotWithShape="0">
              <a:srgbClr val="000000">
                <a:alpha val="12000"/>
              </a:srgbClr>
            </a:outerShdw>
          </a:effectLst>
        </p:spPr>
      </p:sp>
      <p:sp>
        <p:nvSpPr>
          <p:cNvPr id="8" name="Text 6"/>
          <p:cNvSpPr/>
          <p:nvPr/>
        </p:nvSpPr>
        <p:spPr>
          <a:xfrm>
            <a:off x="960120" y="1600200"/>
            <a:ext cx="10287000" cy="914400"/>
          </a:xfrm>
          <a:prstGeom prst="rect">
            <a:avLst/>
          </a:prstGeom>
          <a:noFill/>
          <a:ln/>
        </p:spPr>
        <p:txBody>
          <a:bodyPr wrap="square" lIns="0" tIns="0" rIns="0" bIns="0" rtlCol="0" anchor="ctr"/>
          <a:lstStyle/>
          <a:p>
            <a:pPr marL="0" indent="0" algn="ctr">
              <a:lnSpc>
                <a:spcPct val="130000"/>
              </a:lnSpc>
              <a:buNone/>
            </a:pPr>
            <a:r>
              <a:rPr lang="en-US" sz="1300" dirty="0">
                <a:solidFill>
                  <a:srgbClr val="1A2340"/>
                </a:solidFill>
                <a:latin typeface="Courier New" pitchFamily="34" charset="0"/>
                <a:ea typeface="Courier New" pitchFamily="34" charset="-122"/>
                <a:cs typeface="Courier New" pitchFamily="34" charset="-120"/>
              </a:rPr>
              <a:t>Freight ($/MMBtu) = (day rate × voyage days + fuel + boil-off + canal + port</a:t>
            </a:r>
            <a:endParaRPr lang="en-US" sz="1300" dirty="0"/>
          </a:p>
          <a:p>
            <a:pPr marL="0" indent="0" algn="ctr">
              <a:lnSpc>
                <a:spcPct val="130000"/>
              </a:lnSpc>
              <a:buNone/>
            </a:pPr>
            <a:r>
              <a:rPr lang="en-US" sz="1300" dirty="0">
                <a:solidFill>
                  <a:srgbClr val="1A2340"/>
                </a:solidFill>
                <a:latin typeface="Courier New" pitchFamily="34" charset="0"/>
                <a:ea typeface="Courier New" pitchFamily="34" charset="-122"/>
                <a:cs typeface="Courier New" pitchFamily="34" charset="-120"/>
              </a:rPr>
              <a:t>+ insurance + war risk + other) / delivered MMBtu</a:t>
            </a:r>
            <a:endParaRPr lang="en-US" sz="1300" dirty="0"/>
          </a:p>
        </p:txBody>
      </p:sp>
      <p:sp>
        <p:nvSpPr>
          <p:cNvPr id="9" name="Text 7"/>
          <p:cNvSpPr/>
          <p:nvPr/>
        </p:nvSpPr>
        <p:spPr>
          <a:xfrm>
            <a:off x="685800" y="278892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COST BUILD</a:t>
            </a:r>
            <a:endParaRPr lang="en-US" sz="1200" dirty="0"/>
          </a:p>
        </p:txBody>
      </p:sp>
      <p:sp>
        <p:nvSpPr>
          <p:cNvPr id="10" name="Text 8"/>
          <p:cNvSpPr/>
          <p:nvPr/>
        </p:nvSpPr>
        <p:spPr>
          <a:xfrm>
            <a:off x="685800" y="3108960"/>
            <a:ext cx="10789920" cy="2423160"/>
          </a:xfrm>
          <a:prstGeom prst="rect">
            <a:avLst/>
          </a:prstGeom>
          <a:noFill/>
          <a:ln/>
        </p:spPr>
        <p:txBody>
          <a:bodyPr wrap="square" lIns="0" tIns="0" rIns="0" bIns="0" rtlCol="0" anchor="t"/>
          <a:lstStyle/>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Charter hire — </a:t>
            </a:r>
            <a:r>
              <a:rPr lang="en-US" sz="1100" dirty="0">
                <a:solidFill>
                  <a:srgbClr val="1C2B3A"/>
                </a:solidFill>
                <a:latin typeface="Calibri" pitchFamily="34" charset="0"/>
                <a:ea typeface="Calibri" pitchFamily="34" charset="-122"/>
                <a:cs typeface="Calibri" pitchFamily="34" charset="-120"/>
              </a:rPr>
              <a:t>spot versus term charter; day rate depends on vessel type, market balance and positioning</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Vessel efficiency — </a:t>
            </a:r>
            <a:r>
              <a:rPr lang="en-US" sz="1100" dirty="0">
                <a:solidFill>
                  <a:srgbClr val="1C2B3A"/>
                </a:solidFill>
                <a:latin typeface="Calibri" pitchFamily="34" charset="0"/>
                <a:ea typeface="Calibri" pitchFamily="34" charset="-122"/>
                <a:cs typeface="Calibri" pitchFamily="34" charset="-120"/>
              </a:rPr>
              <a:t>modern two-stroke vessels usually have better fuel and boil-off economics than older steam / TFDE tonnage, but the premium must be tested against the route and cargo value</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Voyage economics — </a:t>
            </a:r>
            <a:r>
              <a:rPr lang="en-US" sz="1100" dirty="0">
                <a:solidFill>
                  <a:srgbClr val="1C2B3A"/>
                </a:solidFill>
                <a:latin typeface="Calibri" pitchFamily="34" charset="0"/>
                <a:ea typeface="Calibri" pitchFamily="34" charset="-122"/>
                <a:cs typeface="Calibri" pitchFamily="34" charset="-120"/>
              </a:rPr>
              <a:t>round-trip days, ballast leg, speed, fuel consumption, boil-off, heel, cool-down, port costs, canal fees, insurance and war-risk premia</a:t>
            </a:r>
            <a:endParaRPr lang="en-US" sz="1100" dirty="0"/>
          </a:p>
          <a:p>
            <a:pPr marL="177800" indent="-177800">
              <a:lnSpc>
                <a:spcPct val="115000"/>
              </a:lnSpc>
              <a:buSzPct val="100000"/>
              <a:buChar char="●"/>
            </a:pPr>
            <a:r>
              <a:rPr lang="en-US" sz="1100" b="1" dirty="0">
                <a:solidFill>
                  <a:srgbClr val="065A82"/>
                </a:solidFill>
                <a:latin typeface="Calibri" pitchFamily="34" charset="0"/>
                <a:ea typeface="Calibri" pitchFamily="34" charset="-122"/>
                <a:cs typeface="Calibri" pitchFamily="34" charset="-120"/>
              </a:rPr>
              <a:t>Delivered volume — </a:t>
            </a:r>
            <a:r>
              <a:rPr lang="en-US" sz="1100" dirty="0">
                <a:solidFill>
                  <a:srgbClr val="1C2B3A"/>
                </a:solidFill>
                <a:latin typeface="Calibri" pitchFamily="34" charset="0"/>
                <a:ea typeface="Calibri" pitchFamily="34" charset="-122"/>
                <a:cs typeface="Calibri" pitchFamily="34" charset="-120"/>
              </a:rPr>
              <a:t>a standard cargo is often modelled around 3.4–3.5 TBtu, but modern 174k m³ vessels may deliver closer to 3.6–3.8 TBtu; state the vessel basis when quoting $/MMBtu</a:t>
            </a:r>
            <a:endParaRPr lang="en-US" sz="1100" dirty="0"/>
          </a:p>
        </p:txBody>
      </p:sp>
      <p:sp>
        <p:nvSpPr>
          <p:cNvPr id="11" name="Text 9"/>
          <p:cNvSpPr/>
          <p:nvPr/>
        </p:nvSpPr>
        <p:spPr>
          <a:xfrm>
            <a:off x="685800" y="562356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MARKET STATE (VERIFY LIVE)</a:t>
            </a:r>
            <a:endParaRPr lang="en-US" sz="1200" dirty="0"/>
          </a:p>
        </p:txBody>
      </p:sp>
      <p:sp>
        <p:nvSpPr>
          <p:cNvPr id="12" name="Text 10"/>
          <p:cNvSpPr/>
          <p:nvPr/>
        </p:nvSpPr>
        <p:spPr>
          <a:xfrm>
            <a:off x="685800" y="5925312"/>
            <a:ext cx="10835640" cy="566928"/>
          </a:xfrm>
          <a:prstGeom prst="rect">
            <a:avLst/>
          </a:prstGeom>
          <a:noFill/>
          <a:ln/>
        </p:spPr>
        <p:txBody>
          <a:bodyPr wrap="square" lIns="0" tIns="0" rIns="0" bIns="0" rtlCol="0" anchor="t"/>
          <a:lstStyle/>
          <a:p>
            <a:pPr marL="0" indent="0">
              <a:lnSpc>
                <a:spcPct val="115000"/>
              </a:lnSpc>
              <a:buNone/>
            </a:pPr>
            <a:r>
              <a:rPr lang="en-US" sz="1030" dirty="0">
                <a:solidFill>
                  <a:srgbClr val="5C7080"/>
                </a:solidFill>
                <a:latin typeface="Calibri" pitchFamily="34" charset="0"/>
                <a:ea typeface="Calibri" pitchFamily="34" charset="-122"/>
                <a:cs typeface="Calibri" pitchFamily="34" charset="-120"/>
              </a:rPr>
              <a:t>Spot LNG freight rates can move sharply with vessel availability, route disruption, newbuild deliveries, war-risk premia and basin arbitrage. Specific rate levels should be checked against live Spark / broker quotes before use — freight is a stochastic risk factor, not a fixed adder.</a:t>
            </a:r>
            <a:endParaRPr lang="en-US" sz="1030" dirty="0"/>
          </a:p>
        </p:txBody>
      </p:sp>
      <p:sp>
        <p:nvSpPr>
          <p:cNvPr id="13" name="Text 11"/>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Q8 of 12   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SHIPPING ECONOMICS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Destination decision and vessel optimisation</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DESTINATION DECISION</a:t>
            </a:r>
            <a:endParaRPr lang="en-US" sz="1200" dirty="0"/>
          </a:p>
        </p:txBody>
      </p:sp>
      <p:sp>
        <p:nvSpPr>
          <p:cNvPr id="8" name="Text 6"/>
          <p:cNvSpPr/>
          <p:nvPr/>
        </p:nvSpPr>
        <p:spPr>
          <a:xfrm>
            <a:off x="685800" y="1920240"/>
            <a:ext cx="10835640" cy="365760"/>
          </a:xfrm>
          <a:prstGeom prst="rect">
            <a:avLst/>
          </a:prstGeom>
          <a:noFill/>
          <a:ln/>
        </p:spPr>
        <p:txBody>
          <a:bodyPr wrap="square" lIns="0" tIns="0" rIns="0" bIns="0" rtlCol="0" anchor="ctr"/>
          <a:lstStyle/>
          <a:p>
            <a:pPr marL="0" indent="0">
              <a:buNone/>
            </a:pPr>
            <a:r>
              <a:rPr lang="en-US" sz="1250" dirty="0">
                <a:solidFill>
                  <a:srgbClr val="1C2B3A"/>
                </a:solidFill>
                <a:latin typeface="Calibri" pitchFamily="34" charset="0"/>
                <a:ea typeface="Calibri" pitchFamily="34" charset="-122"/>
                <a:cs typeface="Calibri" pitchFamily="34" charset="-120"/>
              </a:rPr>
              <a:t>For Europe versus Asia, the relevant signal is not simply JKM minus TTF. It is:</a:t>
            </a:r>
            <a:endParaRPr lang="en-US" sz="1250" dirty="0"/>
          </a:p>
        </p:txBody>
      </p:sp>
      <p:sp>
        <p:nvSpPr>
          <p:cNvPr id="9" name="Shape 7"/>
          <p:cNvSpPr/>
          <p:nvPr/>
        </p:nvSpPr>
        <p:spPr>
          <a:xfrm>
            <a:off x="685800" y="2331720"/>
            <a:ext cx="10835640" cy="594360"/>
          </a:xfrm>
          <a:prstGeom prst="roundRect">
            <a:avLst>
              <a:gd name="adj" fmla="val 10769"/>
            </a:avLst>
          </a:prstGeom>
          <a:solidFill>
            <a:srgbClr val="F1F6F8"/>
          </a:solidFill>
          <a:ln/>
          <a:effectLst>
            <a:outerShdw blurRad="101600" dist="38100" dir="2700000" algn="bl" rotWithShape="0">
              <a:srgbClr val="000000">
                <a:alpha val="12000"/>
              </a:srgbClr>
            </a:outerShdw>
          </a:effectLst>
        </p:spPr>
      </p:sp>
      <p:sp>
        <p:nvSpPr>
          <p:cNvPr id="10" name="Text 8"/>
          <p:cNvSpPr/>
          <p:nvPr/>
        </p:nvSpPr>
        <p:spPr>
          <a:xfrm>
            <a:off x="960120" y="2331720"/>
            <a:ext cx="10287000" cy="594360"/>
          </a:xfrm>
          <a:prstGeom prst="rect">
            <a:avLst/>
          </a:prstGeom>
          <a:noFill/>
          <a:ln/>
        </p:spPr>
        <p:txBody>
          <a:bodyPr wrap="square" lIns="0" tIns="0" rIns="0" bIns="0" rtlCol="0" anchor="ctr"/>
          <a:lstStyle/>
          <a:p>
            <a:pPr marL="0" indent="0" algn="ctr">
              <a:lnSpc>
                <a:spcPct val="130000"/>
              </a:lnSpc>
              <a:buNone/>
            </a:pPr>
            <a:r>
              <a:rPr lang="en-US" sz="1300" dirty="0">
                <a:solidFill>
                  <a:srgbClr val="1A2340"/>
                </a:solidFill>
                <a:latin typeface="Courier New" pitchFamily="34" charset="0"/>
                <a:ea typeface="Courier New" pitchFamily="34" charset="-122"/>
                <a:cs typeface="Courier New" pitchFamily="34" charset="-120"/>
              </a:rPr>
              <a:t>JKM − TTF − Δ Freight − Δ Time − operational penalty</a:t>
            </a:r>
            <a:endParaRPr lang="en-US" sz="1300" dirty="0"/>
          </a:p>
        </p:txBody>
      </p:sp>
      <p:sp>
        <p:nvSpPr>
          <p:cNvPr id="11" name="Text 9"/>
          <p:cNvSpPr/>
          <p:nvPr/>
        </p:nvSpPr>
        <p:spPr>
          <a:xfrm>
            <a:off x="685800" y="3017520"/>
            <a:ext cx="10835640" cy="502920"/>
          </a:xfrm>
          <a:prstGeom prst="rect">
            <a:avLst/>
          </a:prstGeom>
          <a:noFill/>
          <a:ln/>
        </p:spPr>
        <p:txBody>
          <a:bodyPr wrap="square" lIns="0" tIns="0" rIns="0" bIns="0" rtlCol="0" anchor="ctr"/>
          <a:lstStyle/>
          <a:p>
            <a:pPr marL="0" indent="0">
              <a:buNone/>
            </a:pPr>
            <a:r>
              <a:rPr lang="en-US" sz="1150" i="1" dirty="0">
                <a:solidFill>
                  <a:srgbClr val="5C7080"/>
                </a:solidFill>
                <a:latin typeface="Calibri" pitchFamily="34" charset="0"/>
                <a:ea typeface="Calibri" pitchFamily="34" charset="-122"/>
                <a:cs typeface="Calibri" pitchFamily="34" charset="-120"/>
              </a:rPr>
              <a:t>A wide JKM premium only creates value if a vessel is available, the delivery window can be met, and the diversion does not damage the next fixture.</a:t>
            </a:r>
            <a:endParaRPr lang="en-US" sz="1150" dirty="0"/>
          </a:p>
        </p:txBody>
      </p:sp>
      <p:sp>
        <p:nvSpPr>
          <p:cNvPr id="12" name="Text 10"/>
          <p:cNvSpPr/>
          <p:nvPr/>
        </p:nvSpPr>
        <p:spPr>
          <a:xfrm>
            <a:off x="685800" y="374904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VESSEL OPTIMISATION</a:t>
            </a:r>
            <a:endParaRPr lang="en-US" sz="1200" dirty="0"/>
          </a:p>
        </p:txBody>
      </p:sp>
      <p:sp>
        <p:nvSpPr>
          <p:cNvPr id="13" name="Text 11"/>
          <p:cNvSpPr/>
          <p:nvPr/>
        </p:nvSpPr>
        <p:spPr>
          <a:xfrm>
            <a:off x="685800" y="4069080"/>
            <a:ext cx="10789920" cy="17373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Triangulation to reduce ballast</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Speed versus boil-off trade-off</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Panama versus Cape routing</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Heel and cool-down management</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Spot versus term charter mix</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Positioning vessels ahead of expected arbitrage windows</a:t>
            </a:r>
            <a:endParaRPr lang="en-US" sz="1250" dirty="0"/>
          </a:p>
        </p:txBody>
      </p:sp>
      <p:sp>
        <p:nvSpPr>
          <p:cNvPr id="14" name="Text 12"/>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Q8 of 12   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9</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QUANTITATIVE METHODS</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Quantitative techniques for embedded LNG optionality</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Shape 5"/>
          <p:cNvSpPr/>
          <p:nvPr/>
        </p:nvSpPr>
        <p:spPr>
          <a:xfrm>
            <a:off x="685800" y="1654514"/>
            <a:ext cx="5257800" cy="795529"/>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8" name="Text 6"/>
          <p:cNvSpPr/>
          <p:nvPr/>
        </p:nvSpPr>
        <p:spPr>
          <a:xfrm>
            <a:off x="914400" y="1590506"/>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Spread options</a:t>
            </a:r>
            <a:endParaRPr lang="en-US" sz="1350" dirty="0"/>
          </a:p>
        </p:txBody>
      </p:sp>
      <p:sp>
        <p:nvSpPr>
          <p:cNvPr id="9" name="Text 7"/>
          <p:cNvSpPr/>
          <p:nvPr/>
        </p:nvSpPr>
        <p:spPr>
          <a:xfrm>
            <a:off x="914400" y="2020274"/>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Margrabe and Kirk approximations for two-asset diversion rights and DES-vs-hub basis options; fast, good for screening and limits</a:t>
            </a:r>
            <a:endParaRPr lang="en-US" sz="1030" dirty="0"/>
          </a:p>
        </p:txBody>
      </p:sp>
      <p:sp>
        <p:nvSpPr>
          <p:cNvPr id="10" name="Shape 8"/>
          <p:cNvSpPr/>
          <p:nvPr/>
        </p:nvSpPr>
        <p:spPr>
          <a:xfrm>
            <a:off x="6263640" y="1691640"/>
            <a:ext cx="5257800" cy="1691640"/>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11" name="Text 9"/>
          <p:cNvSpPr/>
          <p:nvPr/>
        </p:nvSpPr>
        <p:spPr>
          <a:xfrm>
            <a:off x="6492240" y="1856232"/>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Correlated curve Monte Carlo</a:t>
            </a:r>
            <a:endParaRPr lang="en-US" sz="1350" dirty="0"/>
          </a:p>
        </p:txBody>
      </p:sp>
      <p:sp>
        <p:nvSpPr>
          <p:cNvPr id="12" name="Text 10"/>
          <p:cNvSpPr/>
          <p:nvPr/>
        </p:nvSpPr>
        <p:spPr>
          <a:xfrm>
            <a:off x="6492240" y="2286000"/>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Multi-factor forward-curve simulation of HH, TTF, JKM and freight with seasonality and Samuelson effect; prices cargo cancellation/turndown rights, destination flexibility, cargo baskets and quantity tolerance under long-term SPAs where applicable</a:t>
            </a:r>
            <a:endParaRPr lang="en-US" sz="1030" dirty="0"/>
          </a:p>
        </p:txBody>
      </p:sp>
      <p:sp>
        <p:nvSpPr>
          <p:cNvPr id="13" name="Shape 11"/>
          <p:cNvSpPr/>
          <p:nvPr/>
        </p:nvSpPr>
        <p:spPr>
          <a:xfrm>
            <a:off x="685800" y="2565789"/>
            <a:ext cx="5257800" cy="1005840"/>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14" name="Text 12"/>
          <p:cNvSpPr/>
          <p:nvPr/>
        </p:nvSpPr>
        <p:spPr>
          <a:xfrm>
            <a:off x="914400" y="2652228"/>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Least-squares MC / Linear Programming</a:t>
            </a:r>
            <a:endParaRPr lang="en-US" sz="1350" dirty="0"/>
          </a:p>
        </p:txBody>
      </p:sp>
      <p:sp>
        <p:nvSpPr>
          <p:cNvPr id="15" name="Text 13"/>
          <p:cNvSpPr/>
          <p:nvPr/>
        </p:nvSpPr>
        <p:spPr>
          <a:xfrm>
            <a:off x="914400" y="3081996"/>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Sequential and American-style decisions: divert-or-hold, storage and slot scheduling, exercise-timing of turndowns</a:t>
            </a:r>
            <a:endParaRPr lang="en-US" sz="1030" dirty="0"/>
          </a:p>
        </p:txBody>
      </p:sp>
      <p:sp>
        <p:nvSpPr>
          <p:cNvPr id="16" name="Shape 14"/>
          <p:cNvSpPr/>
          <p:nvPr/>
        </p:nvSpPr>
        <p:spPr>
          <a:xfrm>
            <a:off x="745968" y="4652495"/>
            <a:ext cx="5257800" cy="1021396"/>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17" name="Text 15"/>
          <p:cNvSpPr/>
          <p:nvPr/>
        </p:nvSpPr>
        <p:spPr>
          <a:xfrm>
            <a:off x="974568" y="4715490"/>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Stochastic DP / rolling intrinsic</a:t>
            </a:r>
            <a:endParaRPr lang="en-US" sz="1350" dirty="0"/>
          </a:p>
        </p:txBody>
      </p:sp>
      <p:sp>
        <p:nvSpPr>
          <p:cNvPr id="18" name="Text 16"/>
          <p:cNvSpPr/>
          <p:nvPr/>
        </p:nvSpPr>
        <p:spPr>
          <a:xfrm>
            <a:off x="974568" y="5145258"/>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Regas plus storage assets; rolling intrinsic as the conservative lower bound, SDP for full extrinsic</a:t>
            </a:r>
            <a:endParaRPr lang="en-US" sz="1030" dirty="0"/>
          </a:p>
        </p:txBody>
      </p:sp>
      <p:sp>
        <p:nvSpPr>
          <p:cNvPr id="19" name="Text 17"/>
          <p:cNvSpPr/>
          <p:nvPr/>
        </p:nvSpPr>
        <p:spPr>
          <a:xfrm>
            <a:off x="685800" y="5623560"/>
            <a:ext cx="10835640" cy="640080"/>
          </a:xfrm>
          <a:prstGeom prst="rect">
            <a:avLst/>
          </a:prstGeom>
          <a:noFill/>
          <a:ln/>
        </p:spPr>
        <p:txBody>
          <a:bodyPr wrap="square" lIns="0" tIns="0" rIns="0" bIns="0" rtlCol="0" anchor="t"/>
          <a:lstStyle/>
          <a:p>
            <a:pPr marL="0" indent="0">
              <a:lnSpc>
                <a:spcPct val="115000"/>
              </a:lnSpc>
              <a:buNone/>
            </a:pPr>
            <a:r>
              <a:rPr lang="en-US" sz="1150" i="1" dirty="0">
                <a:solidFill>
                  <a:srgbClr val="5C7080"/>
                </a:solidFill>
                <a:latin typeface="Calibri" pitchFamily="34" charset="0"/>
                <a:ea typeface="Calibri" pitchFamily="34" charset="-122"/>
                <a:cs typeface="Calibri" pitchFamily="34" charset="-120"/>
              </a:rPr>
              <a:t>Calibration and model risk: vols from listed TTF/JKM options; correlations from history with regime weighting; add jump or regime-switching overlays, because 2021–22 and 2026 sit far outside Gaussian tails. Correlation instability is the dominant model risk; always benchmark against intrinsic value and realised P&amp;L.</a:t>
            </a:r>
            <a:endParaRPr lang="en-US" sz="1150" dirty="0"/>
          </a:p>
        </p:txBody>
      </p:sp>
      <p:sp>
        <p:nvSpPr>
          <p:cNvPr id="20" name="Text 18"/>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Q9 of 12   13 / 18</a:t>
            </a:r>
            <a:endParaRPr lang="en-US" sz="900" dirty="0"/>
          </a:p>
        </p:txBody>
      </p:sp>
      <p:sp>
        <p:nvSpPr>
          <p:cNvPr id="21" name="Shape 5">
            <a:extLst>
              <a:ext uri="{FF2B5EF4-FFF2-40B4-BE49-F238E27FC236}">
                <a16:creationId xmlns:a16="http://schemas.microsoft.com/office/drawing/2014/main" id="{7010B5B9-52FE-F84F-7781-E7131E463430}"/>
              </a:ext>
            </a:extLst>
          </p:cNvPr>
          <p:cNvSpPr/>
          <p:nvPr/>
        </p:nvSpPr>
        <p:spPr>
          <a:xfrm>
            <a:off x="752232" y="3713874"/>
            <a:ext cx="5257800" cy="795529"/>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22" name="Text 6">
            <a:extLst>
              <a:ext uri="{FF2B5EF4-FFF2-40B4-BE49-F238E27FC236}">
                <a16:creationId xmlns:a16="http://schemas.microsoft.com/office/drawing/2014/main" id="{0560D26F-ECF0-037A-E315-CC13A4B82FE5}"/>
              </a:ext>
            </a:extLst>
          </p:cNvPr>
          <p:cNvSpPr/>
          <p:nvPr/>
        </p:nvSpPr>
        <p:spPr>
          <a:xfrm>
            <a:off x="980832" y="3649866"/>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1-factor storage </a:t>
            </a:r>
            <a:r>
              <a:rPr lang="en-US" sz="1350" b="1" dirty="0" err="1">
                <a:solidFill>
                  <a:srgbClr val="065A82"/>
                </a:solidFill>
                <a:latin typeface="Cambria" pitchFamily="34" charset="0"/>
                <a:ea typeface="Cambria" pitchFamily="34" charset="-122"/>
                <a:cs typeface="Cambria" pitchFamily="34" charset="-120"/>
              </a:rPr>
              <a:t>Clewlow</a:t>
            </a:r>
            <a:r>
              <a:rPr lang="en-US" sz="1350" b="1" dirty="0">
                <a:solidFill>
                  <a:srgbClr val="065A82"/>
                </a:solidFill>
                <a:latin typeface="Cambria" pitchFamily="34" charset="0"/>
                <a:ea typeface="Cambria" pitchFamily="34" charset="-122"/>
                <a:cs typeface="Cambria" pitchFamily="34" charset="-120"/>
              </a:rPr>
              <a:t>-Strickland</a:t>
            </a:r>
            <a:endParaRPr lang="en-US" sz="1350" dirty="0"/>
          </a:p>
        </p:txBody>
      </p:sp>
      <p:sp>
        <p:nvSpPr>
          <p:cNvPr id="23" name="Text 7">
            <a:extLst>
              <a:ext uri="{FF2B5EF4-FFF2-40B4-BE49-F238E27FC236}">
                <a16:creationId xmlns:a16="http://schemas.microsoft.com/office/drawing/2014/main" id="{67D8C730-AEA7-E5EB-9AD1-97F357D47F65}"/>
              </a:ext>
            </a:extLst>
          </p:cNvPr>
          <p:cNvSpPr/>
          <p:nvPr/>
        </p:nvSpPr>
        <p:spPr>
          <a:xfrm>
            <a:off x="980832" y="4079634"/>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Storage valuation for embedded LNG storage</a:t>
            </a:r>
            <a:endParaRPr lang="en-US" sz="1030" dirty="0"/>
          </a:p>
        </p:txBody>
      </p:sp>
      <p:sp>
        <p:nvSpPr>
          <p:cNvPr id="24" name="Shape 14">
            <a:extLst>
              <a:ext uri="{FF2B5EF4-FFF2-40B4-BE49-F238E27FC236}">
                <a16:creationId xmlns:a16="http://schemas.microsoft.com/office/drawing/2014/main" id="{F8EC7DF5-447B-D7E6-6DD8-6E706F5913E4}"/>
              </a:ext>
            </a:extLst>
          </p:cNvPr>
          <p:cNvSpPr/>
          <p:nvPr/>
        </p:nvSpPr>
        <p:spPr>
          <a:xfrm>
            <a:off x="6205024" y="3593511"/>
            <a:ext cx="5257800" cy="760833"/>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25" name="Text 15">
            <a:extLst>
              <a:ext uri="{FF2B5EF4-FFF2-40B4-BE49-F238E27FC236}">
                <a16:creationId xmlns:a16="http://schemas.microsoft.com/office/drawing/2014/main" id="{660967C4-ACAD-DAD5-CFE6-8B588DFC5A2F}"/>
              </a:ext>
            </a:extLst>
          </p:cNvPr>
          <p:cNvSpPr/>
          <p:nvPr/>
        </p:nvSpPr>
        <p:spPr>
          <a:xfrm>
            <a:off x="6433624" y="3656506"/>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PFE/Credit simulations, </a:t>
            </a:r>
            <a:r>
              <a:rPr lang="en-US" sz="1350" b="1" dirty="0" err="1">
                <a:solidFill>
                  <a:srgbClr val="065A82"/>
                </a:solidFill>
                <a:latin typeface="Cambria" pitchFamily="34" charset="0"/>
                <a:ea typeface="Cambria" pitchFamily="34" charset="-122"/>
                <a:cs typeface="Cambria" pitchFamily="34" charset="-120"/>
              </a:rPr>
              <a:t>Xva</a:t>
            </a:r>
            <a:r>
              <a:rPr lang="en-US" sz="1350" b="1" dirty="0">
                <a:solidFill>
                  <a:srgbClr val="065A82"/>
                </a:solidFill>
                <a:latin typeface="Cambria" pitchFamily="34" charset="0"/>
                <a:ea typeface="Cambria" pitchFamily="34" charset="-122"/>
                <a:cs typeface="Cambria" pitchFamily="34" charset="-120"/>
              </a:rPr>
              <a:t> metrics</a:t>
            </a:r>
            <a:endParaRPr lang="en-US" sz="1350" dirty="0"/>
          </a:p>
        </p:txBody>
      </p:sp>
      <p:sp>
        <p:nvSpPr>
          <p:cNvPr id="26" name="Text 16">
            <a:extLst>
              <a:ext uri="{FF2B5EF4-FFF2-40B4-BE49-F238E27FC236}">
                <a16:creationId xmlns:a16="http://schemas.microsoft.com/office/drawing/2014/main" id="{D6AC1FE3-07B6-3140-ABE7-56D954114640}"/>
              </a:ext>
            </a:extLst>
          </p:cNvPr>
          <p:cNvSpPr/>
          <p:nvPr/>
        </p:nvSpPr>
        <p:spPr>
          <a:xfrm>
            <a:off x="6433624" y="4086274"/>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Either Monte-Carlo or Scenario-Based valuations</a:t>
            </a:r>
            <a:endParaRPr lang="en-US" sz="1030" dirty="0"/>
          </a:p>
        </p:txBody>
      </p:sp>
      <p:sp>
        <p:nvSpPr>
          <p:cNvPr id="27" name="Shape 14">
            <a:extLst>
              <a:ext uri="{FF2B5EF4-FFF2-40B4-BE49-F238E27FC236}">
                <a16:creationId xmlns:a16="http://schemas.microsoft.com/office/drawing/2014/main" id="{4243E067-3E80-DFF9-FF98-DCA98FF907F4}"/>
              </a:ext>
            </a:extLst>
          </p:cNvPr>
          <p:cNvSpPr/>
          <p:nvPr/>
        </p:nvSpPr>
        <p:spPr>
          <a:xfrm>
            <a:off x="6246453" y="4582938"/>
            <a:ext cx="5257800" cy="760833"/>
          </a:xfrm>
          <a:prstGeom prst="roundRect">
            <a:avLst>
              <a:gd name="adj" fmla="val 3784"/>
            </a:avLst>
          </a:prstGeom>
          <a:solidFill>
            <a:srgbClr val="F1F6F8"/>
          </a:solidFill>
          <a:ln/>
          <a:effectLst>
            <a:outerShdw blurRad="101600" dist="38100" dir="2700000" algn="bl" rotWithShape="0">
              <a:srgbClr val="000000">
                <a:alpha val="12000"/>
              </a:srgbClr>
            </a:outerShdw>
          </a:effectLst>
        </p:spPr>
      </p:sp>
      <p:sp>
        <p:nvSpPr>
          <p:cNvPr id="28" name="Text 15">
            <a:extLst>
              <a:ext uri="{FF2B5EF4-FFF2-40B4-BE49-F238E27FC236}">
                <a16:creationId xmlns:a16="http://schemas.microsoft.com/office/drawing/2014/main" id="{EFF1B07F-B49E-15FA-3911-EE5A582D976F}"/>
              </a:ext>
            </a:extLst>
          </p:cNvPr>
          <p:cNvSpPr/>
          <p:nvPr/>
        </p:nvSpPr>
        <p:spPr>
          <a:xfrm>
            <a:off x="6475053" y="4645933"/>
            <a:ext cx="4800600" cy="41148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DCF valuations</a:t>
            </a:r>
            <a:endParaRPr lang="en-US" sz="1350" dirty="0"/>
          </a:p>
        </p:txBody>
      </p:sp>
      <p:sp>
        <p:nvSpPr>
          <p:cNvPr id="29" name="Text 16">
            <a:extLst>
              <a:ext uri="{FF2B5EF4-FFF2-40B4-BE49-F238E27FC236}">
                <a16:creationId xmlns:a16="http://schemas.microsoft.com/office/drawing/2014/main" id="{5F88C74F-B7D5-F666-583E-7855F0B396B4}"/>
              </a:ext>
            </a:extLst>
          </p:cNvPr>
          <p:cNvSpPr/>
          <p:nvPr/>
        </p:nvSpPr>
        <p:spPr>
          <a:xfrm>
            <a:off x="6475053" y="5075701"/>
            <a:ext cx="4800600" cy="1005840"/>
          </a:xfrm>
          <a:prstGeom prst="rect">
            <a:avLst/>
          </a:prstGeom>
          <a:noFill/>
          <a:ln/>
        </p:spPr>
        <p:txBody>
          <a:bodyPr wrap="square" lIns="0" tIns="0" rIns="0" bIns="0" rtlCol="0" anchor="t"/>
          <a:lstStyle/>
          <a:p>
            <a:pPr marL="0" indent="0">
              <a:lnSpc>
                <a:spcPct val="112000"/>
              </a:lnSpc>
              <a:buNone/>
            </a:pPr>
            <a:r>
              <a:rPr lang="en-US" sz="1030" dirty="0">
                <a:solidFill>
                  <a:srgbClr val="1C2B3A"/>
                </a:solidFill>
                <a:latin typeface="Calibri" pitchFamily="34" charset="0"/>
                <a:ea typeface="Calibri" pitchFamily="34" charset="-122"/>
                <a:cs typeface="Calibri" pitchFamily="34" charset="-120"/>
              </a:rPr>
              <a:t>For M&amp;A type activities</a:t>
            </a:r>
            <a:endParaRPr lang="en-US" sz="10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RISK ASSESSMENT</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Market, legal and execution risks in LNG transactions: taxonomy</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RISK TAXONOMY (1 OF 2)</a:t>
            </a:r>
            <a:endParaRPr lang="en-US" sz="1200" dirty="0"/>
          </a:p>
        </p:txBody>
      </p:sp>
      <p:sp>
        <p:nvSpPr>
          <p:cNvPr id="8" name="Text 6"/>
          <p:cNvSpPr/>
          <p:nvPr/>
        </p:nvSpPr>
        <p:spPr>
          <a:xfrm>
            <a:off x="685800" y="1920240"/>
            <a:ext cx="5257800" cy="4206240"/>
          </a:xfrm>
          <a:prstGeom prst="rect">
            <a:avLst/>
          </a:prstGeom>
          <a:noFill/>
          <a:ln/>
        </p:spPr>
        <p:txBody>
          <a:bodyPr wrap="square" lIns="0" tIns="0" rIns="0" bIns="0" rtlCol="0" anchor="t"/>
          <a:lstStyle/>
          <a:p>
            <a:pPr marL="177800" indent="-177800">
              <a:lnSpc>
                <a:spcPct val="115000"/>
              </a:lnSpc>
              <a:buSzPct val="100000"/>
              <a:buChar char="●"/>
            </a:pPr>
            <a:r>
              <a:rPr lang="en-US" sz="960" b="1" dirty="0">
                <a:solidFill>
                  <a:srgbClr val="065A82"/>
                </a:solidFill>
                <a:latin typeface="Calibri" pitchFamily="34" charset="0"/>
                <a:ea typeface="Calibri" pitchFamily="34" charset="-122"/>
                <a:cs typeface="Calibri" pitchFamily="34" charset="-120"/>
              </a:rPr>
              <a:t>Flat price and basis — </a:t>
            </a:r>
            <a:r>
              <a:rPr lang="en-US" sz="960" dirty="0">
                <a:solidFill>
                  <a:srgbClr val="1C2B3A"/>
                </a:solidFill>
                <a:latin typeface="Calibri" pitchFamily="34" charset="0"/>
                <a:ea typeface="Calibri" pitchFamily="34" charset="-122"/>
                <a:cs typeface="Calibri" pitchFamily="34" charset="-120"/>
              </a:rPr>
              <a:t>index mismatch between cost leg and revenue leg: HH, Brent, TTF, JKM, DES basis, local hub basis and freight</a:t>
            </a:r>
            <a:endParaRPr lang="en-US" sz="960" dirty="0"/>
          </a:p>
          <a:p>
            <a:pPr marL="177800" indent="-177800">
              <a:lnSpc>
                <a:spcPct val="115000"/>
              </a:lnSpc>
              <a:buSzPct val="100000"/>
              <a:buChar char="●"/>
            </a:pPr>
            <a:r>
              <a:rPr lang="en-US" sz="960" b="1" dirty="0">
                <a:solidFill>
                  <a:srgbClr val="065A82"/>
                </a:solidFill>
                <a:latin typeface="Calibri" pitchFamily="34" charset="0"/>
                <a:ea typeface="Calibri" pitchFamily="34" charset="-122"/>
                <a:cs typeface="Calibri" pitchFamily="34" charset="-120"/>
              </a:rPr>
              <a:t>Volume and optionality — </a:t>
            </a:r>
            <a:r>
              <a:rPr lang="en-US" sz="960" dirty="0">
                <a:solidFill>
                  <a:srgbClr val="1C2B3A"/>
                </a:solidFill>
                <a:latin typeface="Calibri" pitchFamily="34" charset="0"/>
                <a:ea typeface="Calibri" pitchFamily="34" charset="-122"/>
                <a:cs typeface="Calibri" pitchFamily="34" charset="-120"/>
              </a:rPr>
              <a:t>cargo cancellation or turndown rights, destination flexibility, diversion rights, delivery-window flexibility, quantity tolerance under multi-cargo SPAs where applicable, force majeure, start-up delay, and whether optionality is with us or against us</a:t>
            </a:r>
            <a:endParaRPr lang="en-US" sz="960" dirty="0"/>
          </a:p>
          <a:p>
            <a:pPr marL="177800" indent="-177800">
              <a:lnSpc>
                <a:spcPct val="115000"/>
              </a:lnSpc>
              <a:buSzPct val="100000"/>
              <a:buChar char="●"/>
            </a:pPr>
            <a:r>
              <a:rPr lang="en-US" sz="960" b="1" dirty="0">
                <a:solidFill>
                  <a:srgbClr val="065A82"/>
                </a:solidFill>
                <a:latin typeface="Calibri" pitchFamily="34" charset="0"/>
                <a:ea typeface="Calibri" pitchFamily="34" charset="-122"/>
                <a:cs typeface="Calibri" pitchFamily="34" charset="-120"/>
              </a:rPr>
              <a:t>Freight and shipping — </a:t>
            </a:r>
            <a:r>
              <a:rPr lang="en-US" sz="960" dirty="0">
                <a:solidFill>
                  <a:srgbClr val="1C2B3A"/>
                </a:solidFill>
                <a:latin typeface="Calibri" pitchFamily="34" charset="0"/>
                <a:ea typeface="Calibri" pitchFamily="34" charset="-122"/>
                <a:cs typeface="Calibri" pitchFamily="34" charset="-120"/>
              </a:rPr>
              <a:t>charter-rate risk, vessel availability, voyage timing, canal constraints, boil-off, port access and whether diversion assumptions are physically executable</a:t>
            </a:r>
            <a:endParaRPr lang="en-US" sz="960" dirty="0"/>
          </a:p>
          <a:p>
            <a:pPr marL="177800" indent="-177800">
              <a:lnSpc>
                <a:spcPct val="115000"/>
              </a:lnSpc>
              <a:buSzPct val="100000"/>
              <a:buChar char="●"/>
            </a:pPr>
            <a:r>
              <a:rPr lang="en-US" sz="960" b="1" dirty="0">
                <a:solidFill>
                  <a:srgbClr val="065A82"/>
                </a:solidFill>
                <a:latin typeface="Calibri" pitchFamily="34" charset="0"/>
                <a:ea typeface="Calibri" pitchFamily="34" charset="-122"/>
                <a:cs typeface="Calibri" pitchFamily="34" charset="-120"/>
              </a:rPr>
              <a:t>Chokepoint and route concentration — </a:t>
            </a:r>
            <a:r>
              <a:rPr lang="en-US" sz="960" dirty="0">
                <a:solidFill>
                  <a:srgbClr val="1C2B3A"/>
                </a:solidFill>
                <a:latin typeface="Calibri" pitchFamily="34" charset="0"/>
                <a:ea typeface="Calibri" pitchFamily="34" charset="-122"/>
                <a:cs typeface="Calibri" pitchFamily="34" charset="-120"/>
              </a:rPr>
              <a:t>exposure to Hormuz, Panama and Suez/Cape routing; war-risk premia and insurance availability; the cost and time of re-routing when a corridor closes or slows</a:t>
            </a:r>
            <a:endParaRPr lang="en-US" sz="960" dirty="0"/>
          </a:p>
          <a:p>
            <a:pPr marL="177800" indent="-177800">
              <a:lnSpc>
                <a:spcPct val="115000"/>
              </a:lnSpc>
              <a:buSzPct val="100000"/>
              <a:buChar char="●"/>
            </a:pPr>
            <a:r>
              <a:rPr lang="en-US" sz="960" b="1" dirty="0">
                <a:solidFill>
                  <a:srgbClr val="065A82"/>
                </a:solidFill>
                <a:latin typeface="Calibri" pitchFamily="34" charset="0"/>
                <a:ea typeface="Calibri" pitchFamily="34" charset="-122"/>
                <a:cs typeface="Calibri" pitchFamily="34" charset="-120"/>
              </a:rPr>
              <a:t>Liquidity and hedgeability — </a:t>
            </a:r>
            <a:r>
              <a:rPr lang="en-US" sz="960" dirty="0">
                <a:solidFill>
                  <a:srgbClr val="1C2B3A"/>
                </a:solidFill>
                <a:latin typeface="Calibri" pitchFamily="34" charset="0"/>
                <a:ea typeface="Calibri" pitchFamily="34" charset="-122"/>
                <a:cs typeface="Calibri" pitchFamily="34" charset="-120"/>
              </a:rPr>
              <a:t>hedge depth by tenor, bid-offer cost, JKM/TTF/DES basis liquidity, freight hedgeability and margin-call funding under stress</a:t>
            </a:r>
            <a:endParaRPr lang="en-US" sz="960" dirty="0"/>
          </a:p>
        </p:txBody>
      </p:sp>
      <p:sp>
        <p:nvSpPr>
          <p:cNvPr id="9" name="Text 7"/>
          <p:cNvSpPr/>
          <p:nvPr/>
        </p:nvSpPr>
        <p:spPr>
          <a:xfrm>
            <a:off x="6263640" y="1600200"/>
            <a:ext cx="521208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RISK TAXONOMY (2 OF 2)</a:t>
            </a:r>
            <a:endParaRPr lang="en-US" sz="1200" dirty="0"/>
          </a:p>
        </p:txBody>
      </p:sp>
      <p:sp>
        <p:nvSpPr>
          <p:cNvPr id="10" name="Text 8"/>
          <p:cNvSpPr/>
          <p:nvPr/>
        </p:nvSpPr>
        <p:spPr>
          <a:xfrm>
            <a:off x="6263640" y="1920240"/>
            <a:ext cx="5212080" cy="4206240"/>
          </a:xfrm>
          <a:prstGeom prst="rect">
            <a:avLst/>
          </a:prstGeom>
          <a:noFill/>
          <a:ln/>
        </p:spPr>
        <p:txBody>
          <a:bodyPr wrap="square" lIns="0" tIns="0" rIns="0" bIns="0" rtlCol="0" anchor="t"/>
          <a:lstStyle/>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Credit and performance — </a:t>
            </a:r>
            <a:r>
              <a:rPr lang="en-US" sz="980" dirty="0">
                <a:solidFill>
                  <a:srgbClr val="1C2B3A"/>
                </a:solidFill>
                <a:latin typeface="Calibri" pitchFamily="34" charset="0"/>
                <a:ea typeface="Calibri" pitchFamily="34" charset="-122"/>
                <a:cs typeface="Calibri" pitchFamily="34" charset="-120"/>
              </a:rPr>
              <a:t>counterparty default, PFE, collateral, parent support, performance risk, settlement terms and replacement cost</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Regulatory and legal — </a:t>
            </a:r>
            <a:r>
              <a:rPr lang="en-US" sz="980" dirty="0">
                <a:solidFill>
                  <a:srgbClr val="1C2B3A"/>
                </a:solidFill>
                <a:latin typeface="Calibri" pitchFamily="34" charset="0"/>
                <a:ea typeface="Calibri" pitchFamily="34" charset="-122"/>
                <a:cs typeface="Calibri" pitchFamily="34" charset="-120"/>
              </a:rPr>
              <a:t>sanctions, destination restrictions, EU storage rules, methane rules, terminal-access rules and change-in-law exposure</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SPA dispute risk — </a:t>
            </a:r>
            <a:r>
              <a:rPr lang="en-US" sz="980" dirty="0">
                <a:solidFill>
                  <a:srgbClr val="1C2B3A"/>
                </a:solidFill>
                <a:latin typeface="Calibri" pitchFamily="34" charset="0"/>
                <a:ea typeface="Calibri" pitchFamily="34" charset="-122"/>
                <a:cs typeface="Calibri" pitchFamily="34" charset="-120"/>
              </a:rPr>
              <a:t>price review, take-or-pay/quantity tolerance, non-delivery, commercial-operations date, force majeure, sanctions/change in law, destination and resale rights, demurrage, cargo quality, credit support and close-out damages</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Model and correlation risk — </a:t>
            </a:r>
            <a:r>
              <a:rPr lang="en-US" sz="980" dirty="0">
                <a:solidFill>
                  <a:srgbClr val="1C2B3A"/>
                </a:solidFill>
                <a:latin typeface="Calibri" pitchFamily="34" charset="0"/>
                <a:ea typeface="Calibri" pitchFamily="34" charset="-122"/>
                <a:cs typeface="Calibri" pitchFamily="34" charset="-120"/>
              </a:rPr>
              <a:t>valuation of embedded options, regime breaks, unstable TTF-JKM correlation, freight volatility and model reliance beyond observable tenors</a:t>
            </a:r>
            <a:endParaRPr lang="en-US" sz="980" dirty="0"/>
          </a:p>
        </p:txBody>
      </p:sp>
      <p:sp>
        <p:nvSpPr>
          <p:cNvPr id="11" name="Text 9"/>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Q10 of 12   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RISK ASSESSMENT</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Quantify and govern</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828800"/>
            <a:ext cx="10835640" cy="3657600"/>
          </a:xfrm>
          <a:prstGeom prst="rect">
            <a:avLst/>
          </a:prstGeom>
          <a:noFill/>
          <a:ln/>
        </p:spPr>
        <p:txBody>
          <a:bodyPr wrap="square" lIns="0" tIns="0" rIns="0" bIns="0" rtlCol="0" anchor="t"/>
          <a:lstStyle/>
          <a:p>
            <a:pPr marL="177800" indent="-177800">
              <a:lnSpc>
                <a:spcPct val="115000"/>
              </a:lnSpc>
              <a:buSzPct val="100000"/>
              <a:buChar char="●"/>
            </a:pPr>
            <a:r>
              <a:rPr lang="en-US" sz="1500" b="1" dirty="0">
                <a:solidFill>
                  <a:srgbClr val="065A82"/>
                </a:solidFill>
                <a:latin typeface="Calibri" pitchFamily="34" charset="0"/>
                <a:ea typeface="Calibri" pitchFamily="34" charset="-122"/>
                <a:cs typeface="Calibri" pitchFamily="34" charset="-120"/>
              </a:rPr>
              <a:t>VaR — </a:t>
            </a:r>
            <a:r>
              <a:rPr lang="en-US" sz="1500" dirty="0">
                <a:solidFill>
                  <a:srgbClr val="1C2B3A"/>
                </a:solidFill>
                <a:latin typeface="Calibri" pitchFamily="34" charset="0"/>
                <a:ea typeface="Calibri" pitchFamily="34" charset="-122"/>
                <a:cs typeface="Calibri" pitchFamily="34" charset="-120"/>
              </a:rPr>
              <a:t>for the hedgeable window; PFE and expected exposure for credit tenors</a:t>
            </a:r>
            <a:endParaRPr lang="en-US" sz="1500" dirty="0"/>
          </a:p>
          <a:p>
            <a:pPr marL="177800" indent="-177800">
              <a:lnSpc>
                <a:spcPct val="115000"/>
              </a:lnSpc>
              <a:buSzPct val="100000"/>
              <a:buChar char="●"/>
            </a:pPr>
            <a:r>
              <a:rPr lang="en-US" sz="1500" b="1" dirty="0">
                <a:solidFill>
                  <a:srgbClr val="065A82"/>
                </a:solidFill>
                <a:latin typeface="Calibri" pitchFamily="34" charset="0"/>
                <a:ea typeface="Calibri" pitchFamily="34" charset="-122"/>
                <a:cs typeface="Calibri" pitchFamily="34" charset="-120"/>
              </a:rPr>
              <a:t>Stress P&amp;L — </a:t>
            </a:r>
            <a:r>
              <a:rPr lang="en-US" sz="1500" dirty="0">
                <a:solidFill>
                  <a:srgbClr val="1C2B3A"/>
                </a:solidFill>
                <a:latin typeface="Calibri" pitchFamily="34" charset="0"/>
                <a:ea typeface="Calibri" pitchFamily="34" charset="-122"/>
                <a:cs typeface="Calibri" pitchFamily="34" charset="-120"/>
              </a:rPr>
              <a:t>on named scenarios, including combined market, freight, operational and funding stress</a:t>
            </a:r>
            <a:endParaRPr lang="en-US" sz="1500" dirty="0"/>
          </a:p>
          <a:p>
            <a:pPr marL="177800" indent="-177800">
              <a:lnSpc>
                <a:spcPct val="115000"/>
              </a:lnSpc>
              <a:buSzPct val="100000"/>
              <a:buChar char="●"/>
            </a:pPr>
            <a:r>
              <a:rPr lang="en-US" sz="1500" b="1" dirty="0">
                <a:solidFill>
                  <a:srgbClr val="065A82"/>
                </a:solidFill>
                <a:latin typeface="Calibri" pitchFamily="34" charset="0"/>
                <a:ea typeface="Calibri" pitchFamily="34" charset="-122"/>
                <a:cs typeface="Calibri" pitchFamily="34" charset="-120"/>
              </a:rPr>
              <a:t>Hedge-slippage analysis — </a:t>
            </a:r>
            <a:r>
              <a:rPr lang="en-US" sz="1500" dirty="0">
                <a:solidFill>
                  <a:srgbClr val="1C2B3A"/>
                </a:solidFill>
                <a:latin typeface="Calibri" pitchFamily="34" charset="0"/>
                <a:ea typeface="Calibri" pitchFamily="34" charset="-122"/>
                <a:cs typeface="Calibri" pitchFamily="34" charset="-120"/>
              </a:rPr>
              <a:t>what fraction of the structure is hedgeable, at what cost, and out to what tenor</a:t>
            </a:r>
            <a:endParaRPr lang="en-US" sz="1500" dirty="0"/>
          </a:p>
          <a:p>
            <a:pPr marL="177800" indent="-177800">
              <a:lnSpc>
                <a:spcPct val="115000"/>
              </a:lnSpc>
              <a:buSzPct val="100000"/>
              <a:buChar char="●"/>
            </a:pPr>
            <a:r>
              <a:rPr lang="en-US" sz="1500" b="1" dirty="0">
                <a:solidFill>
                  <a:srgbClr val="065A82"/>
                </a:solidFill>
                <a:latin typeface="Calibri" pitchFamily="34" charset="0"/>
                <a:ea typeface="Calibri" pitchFamily="34" charset="-122"/>
                <a:cs typeface="Calibri" pitchFamily="34" charset="-120"/>
              </a:rPr>
              <a:t>Deal memo — </a:t>
            </a:r>
            <a:r>
              <a:rPr lang="en-US" sz="1500" dirty="0">
                <a:solidFill>
                  <a:srgbClr val="1C2B3A"/>
                </a:solidFill>
                <a:latin typeface="Calibri" pitchFamily="34" charset="0"/>
                <a:ea typeface="Calibri" pitchFamily="34" charset="-122"/>
                <a:cs typeface="Calibri" pitchFamily="34" charset="-120"/>
              </a:rPr>
              <a:t>risk-adjusted return on capital, concentration versus book, exit strategy and unwind cost</a:t>
            </a:r>
            <a:endParaRPr lang="en-US" sz="1500" dirty="0"/>
          </a:p>
          <a:p>
            <a:pPr marL="177800" indent="-177800">
              <a:lnSpc>
                <a:spcPct val="115000"/>
              </a:lnSpc>
              <a:buSzPct val="100000"/>
              <a:buChar char="●"/>
            </a:pPr>
            <a:r>
              <a:rPr lang="en-US" sz="1500" b="1" dirty="0">
                <a:solidFill>
                  <a:srgbClr val="065A82"/>
                </a:solidFill>
                <a:latin typeface="Calibri" pitchFamily="34" charset="0"/>
                <a:ea typeface="Calibri" pitchFamily="34" charset="-122"/>
                <a:cs typeface="Calibri" pitchFamily="34" charset="-120"/>
              </a:rPr>
              <a:t>Approval conditional on limits — </a:t>
            </a:r>
            <a:r>
              <a:rPr lang="en-US" sz="1500" dirty="0">
                <a:solidFill>
                  <a:srgbClr val="1C2B3A"/>
                </a:solidFill>
                <a:latin typeface="Calibri" pitchFamily="34" charset="0"/>
                <a:ea typeface="Calibri" pitchFamily="34" charset="-122"/>
                <a:cs typeface="Calibri" pitchFamily="34" charset="-120"/>
              </a:rPr>
              <a:t>basis, tenor, credit, liquidity, model reliance and review triggers if entry assumptions break</a:t>
            </a:r>
            <a:endParaRPr lang="en-US" sz="1500" dirty="0"/>
          </a:p>
        </p:txBody>
      </p:sp>
      <p:sp>
        <p:nvSpPr>
          <p:cNvPr id="8" name="Text 6"/>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Q10 of 12   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STRESS TESTING</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LNG portfolio stress testing: method and scenarios (1 of 2)</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STRESS-TESTING METHOD — FIVE LENSES, APPLIED TOGETHER</a:t>
            </a:r>
            <a:endParaRPr lang="en-US" sz="1200" dirty="0"/>
          </a:p>
        </p:txBody>
      </p:sp>
      <p:sp>
        <p:nvSpPr>
          <p:cNvPr id="8" name="Text 6"/>
          <p:cNvSpPr/>
          <p:nvPr/>
        </p:nvSpPr>
        <p:spPr>
          <a:xfrm>
            <a:off x="685800" y="1920240"/>
            <a:ext cx="10789920" cy="1920240"/>
          </a:xfrm>
          <a:prstGeom prst="rect">
            <a:avLst/>
          </a:prstGeom>
          <a:noFill/>
          <a:ln/>
        </p:spPr>
        <p:txBody>
          <a:bodyPr wrap="square" lIns="0" tIns="0" rIns="0" bIns="0" rtlCol="0" anchor="t"/>
          <a:lstStyle/>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Historical replay — </a:t>
            </a:r>
            <a:r>
              <a:rPr lang="en-US" sz="980" dirty="0">
                <a:solidFill>
                  <a:srgbClr val="1C2B3A"/>
                </a:solidFill>
                <a:latin typeface="Calibri" pitchFamily="34" charset="0"/>
                <a:ea typeface="Calibri" pitchFamily="34" charset="-122"/>
                <a:cs typeface="Calibri" pitchFamily="34" charset="-120"/>
              </a:rPr>
              <a:t>revalue today's book under past market regimes: 2020 glut, 2021–22 European scarcity, 2026 Hormuz/Middle East disruption</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Forward deterministic scenarios — </a:t>
            </a:r>
            <a:r>
              <a:rPr lang="en-US" sz="980" dirty="0">
                <a:solidFill>
                  <a:srgbClr val="1C2B3A"/>
                </a:solidFill>
                <a:latin typeface="Calibri" pitchFamily="34" charset="0"/>
                <a:ea typeface="Calibri" pitchFamily="34" charset="-122"/>
                <a:cs typeface="Calibri" pitchFamily="34" charset="-120"/>
              </a:rPr>
              <a:t>named scenarios: supply wave landing, Asian demand disappointment, Russian gas return, prolonged Hormuz disruption, freight squeeze</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Cross-factor shocks — </a:t>
            </a:r>
            <a:r>
              <a:rPr lang="en-US" sz="980" dirty="0">
                <a:solidFill>
                  <a:srgbClr val="1C2B3A"/>
                </a:solidFill>
                <a:latin typeface="Calibri" pitchFamily="34" charset="0"/>
                <a:ea typeface="Calibri" pitchFamily="34" charset="-122"/>
                <a:cs typeface="Calibri" pitchFamily="34" charset="-120"/>
              </a:rPr>
              <a:t>stress TTF, JKM, Henry Hub, Brent-linked formulas, DES basis, freight, volatility, correlation, regas access and credit exposure together, not in isolation</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Liquidity and funding overlay — </a:t>
            </a:r>
            <a:r>
              <a:rPr lang="en-US" sz="980" dirty="0">
                <a:solidFill>
                  <a:srgbClr val="1C2B3A"/>
                </a:solidFill>
                <a:latin typeface="Calibri" pitchFamily="34" charset="0"/>
                <a:ea typeface="Calibri" pitchFamily="34" charset="-122"/>
                <a:cs typeface="Calibri" pitchFamily="34" charset="-120"/>
              </a:rPr>
              <a:t>hedge liquidity, bid-offer widening, margin calls, collateral, PFE, and whether the book remains financeable under stress</a:t>
            </a:r>
            <a:endParaRPr lang="en-US" sz="980" dirty="0"/>
          </a:p>
          <a:p>
            <a:pPr marL="177800" indent="-177800">
              <a:lnSpc>
                <a:spcPct val="115000"/>
              </a:lnSpc>
              <a:buSzPct val="100000"/>
              <a:buChar char="●"/>
            </a:pPr>
            <a:r>
              <a:rPr lang="en-US" sz="980" b="1" dirty="0">
                <a:solidFill>
                  <a:srgbClr val="065A82"/>
                </a:solidFill>
                <a:latin typeface="Calibri" pitchFamily="34" charset="0"/>
                <a:ea typeface="Calibri" pitchFamily="34" charset="-122"/>
                <a:cs typeface="Calibri" pitchFamily="34" charset="-120"/>
              </a:rPr>
              <a:t>Operational overlay — </a:t>
            </a:r>
            <a:r>
              <a:rPr lang="en-US" sz="980" dirty="0">
                <a:solidFill>
                  <a:srgbClr val="1C2B3A"/>
                </a:solidFill>
                <a:latin typeface="Calibri" pitchFamily="34" charset="0"/>
                <a:ea typeface="Calibri" pitchFamily="34" charset="-122"/>
                <a:cs typeface="Calibri" pitchFamily="34" charset="-120"/>
              </a:rPr>
              <a:t>vessel non-availability, canal disruption, terminal outage, berth delays, regas constraints, force majeure and cargo timing slippage</a:t>
            </a:r>
            <a:endParaRPr lang="en-US" sz="980" dirty="0"/>
          </a:p>
        </p:txBody>
      </p:sp>
      <p:sp>
        <p:nvSpPr>
          <p:cNvPr id="9" name="Text 7"/>
          <p:cNvSpPr/>
          <p:nvPr/>
        </p:nvSpPr>
        <p:spPr>
          <a:xfrm>
            <a:off x="685800" y="397764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SCENARIOS THAT MATTER</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4279392"/>
          <a:ext cx="10835640" cy="1441196"/>
        </p:xfrm>
        <a:graphic>
          <a:graphicData uri="http://schemas.openxmlformats.org/drawingml/2006/table">
            <a:tbl>
              <a:tblPr/>
              <a:tblGrid>
                <a:gridCol w="196596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lgn="l">
                        <a:buNone/>
                      </a:pPr>
                      <a:r>
                        <a:rPr lang="en-US" sz="970" b="1" dirty="0">
                          <a:solidFill>
                            <a:srgbClr val="FFFFFF"/>
                          </a:solidFill>
                          <a:latin typeface="Calibri" pitchFamily="34" charset="0"/>
                          <a:ea typeface="Calibri" pitchFamily="34" charset="-122"/>
                          <a:cs typeface="Calibri" pitchFamily="34" charset="-120"/>
                        </a:rPr>
                        <a:t>Scenario</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970" b="1" dirty="0">
                          <a:solidFill>
                            <a:srgbClr val="FFFFFF"/>
                          </a:solidFill>
                          <a:latin typeface="Calibri" pitchFamily="34" charset="0"/>
                          <a:ea typeface="Calibri" pitchFamily="34" charset="-122"/>
                          <a:cs typeface="Calibri" pitchFamily="34" charset="-120"/>
                        </a:rPr>
                        <a:t>What happened</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tc>
                  <a:txBody>
                    <a:bodyPr/>
                    <a:lstStyle/>
                    <a:p>
                      <a:pPr marL="0" indent="0" algn="l">
                        <a:buNone/>
                      </a:pPr>
                      <a:r>
                        <a:rPr lang="en-US" sz="970" b="1" dirty="0">
                          <a:solidFill>
                            <a:srgbClr val="FFFFFF"/>
                          </a:solidFill>
                          <a:latin typeface="Calibri" pitchFamily="34" charset="0"/>
                          <a:ea typeface="Calibri" pitchFamily="34" charset="-122"/>
                          <a:cs typeface="Calibri" pitchFamily="34" charset="-120"/>
                        </a:rPr>
                        <a:t>What it tests</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0">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2020 glut</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Covid demand shock: JKM below $2, US cargo cancellations and low utilisation</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SRMC floor, turndown economics, long-supply downside</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2021–22 Russia/Europe scarcity</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TTF spike, European security-of-supply stress, regas scarcity and extreme margin calls</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Funding liquidity, hedge slippage, short-Europe exposure</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1F6F8"/>
                    </a:solidFill>
                  </a:tcPr>
                </a:tc>
                <a:extLst>
                  <a:ext uri="{0D108BD9-81ED-4DB2-BD59-A6C34878D82A}">
                    <a16:rowId xmlns:a16="http://schemas.microsoft.com/office/drawing/2014/main" val="10002"/>
                  </a:ext>
                </a:extLst>
              </a:tr>
              <a:tr h="0">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2026 Hormuz/Middle East disruption</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~20% of global LNG supply affected; ~9–10 bcm/month at risk; JKM-TTF flipped towards Asia; JKM volatility spiked</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tc>
                  <a:txBody>
                    <a:bodyPr/>
                    <a:lstStyle/>
                    <a:p>
                      <a:pPr marL="0" indent="0" algn="l">
                        <a:buNone/>
                      </a:pPr>
                      <a:r>
                        <a:rPr lang="en-US" sz="970" dirty="0">
                          <a:solidFill>
                            <a:srgbClr val="1C2B3A"/>
                          </a:solidFill>
                          <a:latin typeface="Calibri" pitchFamily="34" charset="0"/>
                          <a:ea typeface="Calibri" pitchFamily="34" charset="-122"/>
                          <a:cs typeface="Calibri" pitchFamily="34" charset="-120"/>
                        </a:rPr>
                        <a:t>FM cascades, freight, diversion value, basin basis risk</a:t>
                      </a:r>
                      <a:endParaRPr lang="en-US" sz="970" dirty="0">
                        <a:latin typeface="Calibri" charset="0"/>
                        <a:ea typeface="Calibri" charset="0"/>
                        <a:cs typeface="Calibri" charset="0"/>
                      </a:endParaRPr>
                    </a:p>
                  </a:txBody>
                  <a:tcPr marL="101600" marR="101600" marT="50800" marB="50800">
                    <a:lnL w="6350" cap="flat" cmpd="sng" algn="ctr">
                      <a:solidFill>
                        <a:srgbClr val="D7E3E8"/>
                      </a:solidFill>
                      <a:prstDash val="solid"/>
                      <a:round/>
                      <a:headEnd type="none" w="med" len="med"/>
                      <a:tailEnd type="none" w="med" len="med"/>
                    </a:lnL>
                    <a:lnR w="6350" cap="flat" cmpd="sng" algn="ctr">
                      <a:solidFill>
                        <a:srgbClr val="D7E3E8"/>
                      </a:solidFill>
                      <a:prstDash val="solid"/>
                      <a:round/>
                      <a:headEnd type="none" w="med" len="med"/>
                      <a:tailEnd type="none" w="med" len="med"/>
                    </a:lnR>
                    <a:lnT w="6350" cap="flat" cmpd="sng" algn="ctr">
                      <a:solidFill>
                        <a:srgbClr val="D7E3E8"/>
                      </a:solidFill>
                      <a:prstDash val="solid"/>
                      <a:round/>
                      <a:headEnd type="none" w="med" len="med"/>
                      <a:tailEnd type="none" w="med" len="med"/>
                    </a:lnT>
                    <a:lnB w="6350"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8"/>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Q11 of 12   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STRESS TESTING</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LNG portfolio stress testing: forward-looking and governance (2 of 2)</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0020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FORWARD-LOOKING SCENARIOS</a:t>
            </a:r>
            <a:endParaRPr lang="en-US" sz="1200" dirty="0"/>
          </a:p>
        </p:txBody>
      </p:sp>
      <p:sp>
        <p:nvSpPr>
          <p:cNvPr id="8" name="Text 6"/>
          <p:cNvSpPr/>
          <p:nvPr/>
        </p:nvSpPr>
        <p:spPr>
          <a:xfrm>
            <a:off x="685800" y="1920240"/>
            <a:ext cx="10789920" cy="182880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Extended Hormuz disruption versus fast normalisation</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Russian pipeline and LNG return, weakening TTF and Atlantic basis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Supply wave landing in 2027–28 with weak Asian demand: sub-$8 TTF, US turndowns, regas intrinsic near zero</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Asian demand disappointment plus FID overbuild: second glut risk into the 2030s</a:t>
            </a:r>
            <a:endParaRPr lang="en-US" sz="1250" dirty="0"/>
          </a:p>
          <a:p>
            <a:pPr marL="177800" indent="-177800">
              <a:lnSpc>
                <a:spcPct val="11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Freight squeeze plus Panama/routing constraint against a wide JKM–TTF spread</a:t>
            </a:r>
            <a:endParaRPr lang="en-US" sz="1250" dirty="0"/>
          </a:p>
        </p:txBody>
      </p:sp>
      <p:sp>
        <p:nvSpPr>
          <p:cNvPr id="9" name="Text 7"/>
          <p:cNvSpPr/>
          <p:nvPr/>
        </p:nvSpPr>
        <p:spPr>
          <a:xfrm>
            <a:off x="685800" y="397764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REVERSE STRESS</a:t>
            </a:r>
            <a:endParaRPr lang="en-US" sz="1200" dirty="0"/>
          </a:p>
        </p:txBody>
      </p:sp>
      <p:sp>
        <p:nvSpPr>
          <p:cNvPr id="10" name="Text 8"/>
          <p:cNvSpPr/>
          <p:nvPr/>
        </p:nvSpPr>
        <p:spPr>
          <a:xfrm>
            <a:off x="685800" y="4279392"/>
            <a:ext cx="10835640" cy="594360"/>
          </a:xfrm>
          <a:prstGeom prst="rect">
            <a:avLst/>
          </a:prstGeom>
          <a:noFill/>
          <a:ln/>
        </p:spPr>
        <p:txBody>
          <a:bodyPr wrap="square" lIns="0" tIns="0" rIns="0" bIns="0" rtlCol="0" anchor="t"/>
          <a:lstStyle/>
          <a:p>
            <a:pPr marL="0" indent="0">
              <a:lnSpc>
                <a:spcPct val="115000"/>
              </a:lnSpc>
              <a:buNone/>
            </a:pPr>
            <a:r>
              <a:rPr lang="en-US" sz="1150" i="1" dirty="0">
                <a:solidFill>
                  <a:srgbClr val="5C7080"/>
                </a:solidFill>
                <a:latin typeface="Calibri" pitchFamily="34" charset="0"/>
                <a:ea typeface="Calibri" pitchFamily="34" charset="-122"/>
                <a:cs typeface="Calibri" pitchFamily="34" charset="-120"/>
              </a:rPr>
              <a:t>Ask what breaks the book: what combination of low prices, high freight, failed hedges, unavailable regas, counterparty default and margin calls would breach risk appetite or liquidity headroom?</a:t>
            </a:r>
            <a:endParaRPr lang="en-US" sz="1150" dirty="0"/>
          </a:p>
        </p:txBody>
      </p:sp>
      <p:sp>
        <p:nvSpPr>
          <p:cNvPr id="11" name="Text 9"/>
          <p:cNvSpPr/>
          <p:nvPr/>
        </p:nvSpPr>
        <p:spPr>
          <a:xfrm>
            <a:off x="685800" y="507492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GOVERNANCE</a:t>
            </a:r>
            <a:endParaRPr lang="en-US" sz="1200" dirty="0"/>
          </a:p>
        </p:txBody>
      </p:sp>
      <p:sp>
        <p:nvSpPr>
          <p:cNvPr id="12" name="Text 10"/>
          <p:cNvSpPr/>
          <p:nvPr/>
        </p:nvSpPr>
        <p:spPr>
          <a:xfrm>
            <a:off x="685800" y="5376672"/>
            <a:ext cx="10835640" cy="1005840"/>
          </a:xfrm>
          <a:prstGeom prst="rect">
            <a:avLst/>
          </a:prstGeom>
          <a:noFill/>
          <a:ln/>
        </p:spPr>
        <p:txBody>
          <a:bodyPr wrap="square" lIns="0" tIns="0" rIns="0" bIns="0" rtlCol="0" anchor="t"/>
          <a:lstStyle/>
          <a:p>
            <a:pPr marL="0" indent="0">
              <a:lnSpc>
                <a:spcPct val="115000"/>
              </a:lnSpc>
              <a:buNone/>
            </a:pPr>
            <a:r>
              <a:rPr lang="en-US" sz="1100" dirty="0">
                <a:solidFill>
                  <a:srgbClr val="1C2B3A"/>
                </a:solidFill>
                <a:latin typeface="Calibri" pitchFamily="34" charset="0"/>
                <a:ea typeface="Calibri" pitchFamily="34" charset="-122"/>
                <a:cs typeface="Calibri" pitchFamily="34" charset="-120"/>
              </a:rPr>
              <a:t>Run quarterly base stress cycles plus event-driven reruns, tied to observable signposts: Hormuz transits, Qatar force majeure status, EU storage levels, FID count, project ramp-up, Asian demand, freight rates and hedge liquidity. Outputs should include not only stress P&amp;L, but management actions: hedge, divert, cancel/turndown where permitted, secure freight, nominate regas, reduce exposure, or trigger review/approval limits.</a:t>
            </a:r>
            <a:endParaRPr lang="en-US" sz="1100" dirty="0"/>
          </a:p>
        </p:txBody>
      </p:sp>
      <p:sp>
        <p:nvSpPr>
          <p:cNvPr id="13" name="Text 11"/>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Q11 of 12   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65A82"/>
          </a:solidFill>
          <a:ln/>
        </p:spPr>
      </p:sp>
      <p:sp>
        <p:nvSpPr>
          <p:cNvPr id="3" name="Text 1"/>
          <p:cNvSpPr/>
          <p:nvPr/>
        </p:nvSpPr>
        <p:spPr>
          <a:xfrm>
            <a:off x="640080" y="5029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417320" y="457200"/>
            <a:ext cx="1024128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TRACK RECORD</a:t>
            </a:r>
            <a:endParaRPr lang="en-US" sz="1100" dirty="0"/>
          </a:p>
        </p:txBody>
      </p:sp>
      <p:sp>
        <p:nvSpPr>
          <p:cNvPr id="5" name="Text 3"/>
          <p:cNvSpPr/>
          <p:nvPr/>
        </p:nvSpPr>
        <p:spPr>
          <a:xfrm>
            <a:off x="1417320" y="694944"/>
            <a:ext cx="10424160" cy="685800"/>
          </a:xfrm>
          <a:prstGeom prst="rect">
            <a:avLst/>
          </a:prstGeom>
          <a:noFill/>
          <a:ln/>
        </p:spPr>
        <p:txBody>
          <a:bodyPr wrap="square" lIns="0" tIns="0" rIns="0" bIns="0" rtlCol="0" anchor="t"/>
          <a:lstStyle/>
          <a:p>
            <a:pPr marL="0" indent="0">
              <a:buNone/>
            </a:pPr>
            <a:r>
              <a:rPr lang="en-US" sz="2300" b="1" dirty="0">
                <a:solidFill>
                  <a:srgbClr val="1C2B3A"/>
                </a:solidFill>
                <a:latin typeface="Cambria" pitchFamily="34" charset="0"/>
                <a:ea typeface="Cambria" pitchFamily="34" charset="-122"/>
                <a:cs typeface="Cambria" pitchFamily="34" charset="-120"/>
              </a:rPr>
              <a:t>Openlink Endur and ETRM / risk reporting interface</a:t>
            </a:r>
            <a:endParaRPr lang="en-US" sz="2300" dirty="0"/>
          </a:p>
        </p:txBody>
      </p:sp>
      <p:sp>
        <p:nvSpPr>
          <p:cNvPr id="6" name="Shape 4"/>
          <p:cNvSpPr/>
          <p:nvPr/>
        </p:nvSpPr>
        <p:spPr>
          <a:xfrm>
            <a:off x="685800" y="1417320"/>
            <a:ext cx="10835640" cy="0"/>
          </a:xfrm>
          <a:prstGeom prst="line">
            <a:avLst/>
          </a:prstGeom>
          <a:noFill/>
          <a:ln w="12700">
            <a:solidFill>
              <a:srgbClr val="D7E3E8"/>
            </a:solidFill>
            <a:prstDash val="solid"/>
          </a:ln>
        </p:spPr>
      </p:sp>
      <p:sp>
        <p:nvSpPr>
          <p:cNvPr id="7" name="Text 5"/>
          <p:cNvSpPr/>
          <p:nvPr/>
        </p:nvSpPr>
        <p:spPr>
          <a:xfrm>
            <a:off x="685800" y="169164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ROLE AND PROCESS</a:t>
            </a:r>
            <a:endParaRPr lang="en-US" sz="1200" dirty="0"/>
          </a:p>
        </p:txBody>
      </p:sp>
      <p:sp>
        <p:nvSpPr>
          <p:cNvPr id="8" name="Text 6"/>
          <p:cNvSpPr/>
          <p:nvPr/>
        </p:nvSpPr>
        <p:spPr>
          <a:xfrm>
            <a:off x="685800" y="2011680"/>
            <a:ext cx="10835640" cy="1554480"/>
          </a:xfrm>
          <a:prstGeom prst="rect">
            <a:avLst/>
          </a:prstGeom>
          <a:noFill/>
          <a:ln/>
        </p:spPr>
        <p:txBody>
          <a:bodyPr wrap="square" lIns="0" tIns="0" rIns="0" bIns="0" rtlCol="0" anchor="t"/>
          <a:lstStyle/>
          <a:p>
            <a:pPr marL="0" indent="0">
              <a:lnSpc>
                <a:spcPct val="130000"/>
              </a:lnSpc>
              <a:buNone/>
            </a:pPr>
            <a:r>
              <a:rPr lang="en-US" sz="1400" dirty="0">
                <a:solidFill>
                  <a:srgbClr val="1C2B3A"/>
                </a:solidFill>
                <a:latin typeface="Calibri" pitchFamily="34" charset="0"/>
                <a:ea typeface="Calibri" pitchFamily="34" charset="-122"/>
                <a:cs typeface="Calibri" pitchFamily="34" charset="-120"/>
              </a:rPr>
              <a:t>I do not enter deals directly into Openlink Endur, so I would not describe myself as an Endur operator. My role has been on the front-office structuring and valuation side. I build the economics of complex transactions in Python and spreadsheets, take them through the Deal Approval Form process, and then work with Middle Office / Risk to ensure the approved economics are implemented correctly for M2M and risk reporting.</a:t>
            </a:r>
            <a:endParaRPr lang="en-US" sz="1400" dirty="0"/>
          </a:p>
        </p:txBody>
      </p:sp>
      <p:sp>
        <p:nvSpPr>
          <p:cNvPr id="9" name="Text 7"/>
          <p:cNvSpPr/>
          <p:nvPr/>
        </p:nvSpPr>
        <p:spPr>
          <a:xfrm>
            <a:off x="685800" y="3794760"/>
            <a:ext cx="10789920" cy="292608"/>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ETRM INTERFACE</a:t>
            </a:r>
            <a:endParaRPr lang="en-US" sz="1200" dirty="0"/>
          </a:p>
        </p:txBody>
      </p:sp>
      <p:sp>
        <p:nvSpPr>
          <p:cNvPr id="10" name="Text 8"/>
          <p:cNvSpPr/>
          <p:nvPr/>
        </p:nvSpPr>
        <p:spPr>
          <a:xfrm>
            <a:off x="685800" y="4114800"/>
            <a:ext cx="10835640" cy="2194560"/>
          </a:xfrm>
          <a:prstGeom prst="rect">
            <a:avLst/>
          </a:prstGeom>
          <a:noFill/>
          <a:ln/>
        </p:spPr>
        <p:txBody>
          <a:bodyPr wrap="square" lIns="0" tIns="0" rIns="0" bIns="0" rtlCol="0" anchor="t"/>
          <a:lstStyle/>
          <a:p>
            <a:pPr marL="0" indent="0">
              <a:lnSpc>
                <a:spcPct val="125000"/>
              </a:lnSpc>
              <a:buNone/>
            </a:pPr>
            <a:r>
              <a:rPr lang="en-US" sz="1300" dirty="0">
                <a:solidFill>
                  <a:srgbClr val="1C2B3A"/>
                </a:solidFill>
                <a:latin typeface="Calibri" pitchFamily="34" charset="0"/>
                <a:ea typeface="Calibri" pitchFamily="34" charset="-122"/>
                <a:cs typeface="Calibri" pitchFamily="34" charset="-120"/>
              </a:rPr>
              <a:t>That means I am familiar with the interface between commercial valuation and the official ETRM / risk reporting setup: pricing legs, embedded optionality, index exposures, volume flexibility, settlement mechanics, reserves and hedge representation. In practice this covers deal representation and templates, curve and index mapping, settlement mapping, end-of-day valuation and exposure grids, reserves, and reconciliation between the Python / spreadsheet economics and the official M2M. My strength is translating complex deal economics into a valuation and control framework that Risk and Middle Office can operationalise.</a:t>
            </a:r>
            <a:endParaRPr lang="en-US" sz="1300" dirty="0"/>
          </a:p>
        </p:txBody>
      </p:sp>
      <p:sp>
        <p:nvSpPr>
          <p:cNvPr id="11" name="Text 9"/>
          <p:cNvSpPr/>
          <p:nvPr/>
        </p:nvSpPr>
        <p:spPr>
          <a:xfrm>
            <a:off x="9174175" y="6473952"/>
            <a:ext cx="2743200" cy="274320"/>
          </a:xfrm>
          <a:prstGeom prst="rect">
            <a:avLst/>
          </a:prstGeom>
          <a:noFill/>
          <a:ln/>
        </p:spPr>
        <p:txBody>
          <a:bodyPr wrap="square" lIns="0" tIns="0" rIns="0" bIns="0"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Q12 of 12   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4058</Words>
  <Application>Microsoft Office PowerPoint</Application>
  <PresentationFormat>Widescreen</PresentationFormat>
  <Paragraphs>306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LNG Structuring and Trading: Key LNG-Related Topics</dc:title>
  <dc:subject>PptxGenJS Presentation</dc:subject>
  <dc:creator>Dmitry Goryunov</dc:creator>
  <cp:lastModifiedBy>Dmitry Goryunov</cp:lastModifiedBy>
  <cp:revision>12</cp:revision>
  <dcterms:created xsi:type="dcterms:W3CDTF">2026-07-03T13:46:10Z</dcterms:created>
  <dcterms:modified xsi:type="dcterms:W3CDTF">2026-07-03T14:28:55Z</dcterms:modified>
</cp:coreProperties>
</file>